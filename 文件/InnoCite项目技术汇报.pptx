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72" r:id="rId12"/>
    <p:sldId id="264" r:id="rId13"/>
    <p:sldId id="273" r:id="rId14"/>
    <p:sldId id="265" r:id="rId15"/>
    <p:sldId id="274" r:id="rId16"/>
    <p:sldId id="275" r:id="rId17"/>
    <p:sldId id="266" r:id="rId18"/>
    <p:sldId id="267" r:id="rId19"/>
    <p:sldId id="276" r:id="rId20"/>
    <p:sldId id="268" r:id="rId21"/>
    <p:sldId id="269" r:id="rId22"/>
    <p:sldId id="27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6.svg"/><Relationship Id="rId22" Type="http://schemas.openxmlformats.org/officeDocument/2006/relationships/image" Target="../media/image15.png"/><Relationship Id="rId21" Type="http://schemas.openxmlformats.org/officeDocument/2006/relationships/tags" Target="../tags/tag15.xml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image" Target="../media/image14.svg"/><Relationship Id="rId18" Type="http://schemas.openxmlformats.org/officeDocument/2006/relationships/image" Target="../media/image13.png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35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5.svg"/><Relationship Id="rId13" Type="http://schemas.openxmlformats.org/officeDocument/2006/relationships/image" Target="../media/image44.png"/><Relationship Id="rId12" Type="http://schemas.openxmlformats.org/officeDocument/2006/relationships/image" Target="../media/image43.svg"/><Relationship Id="rId11" Type="http://schemas.openxmlformats.org/officeDocument/2006/relationships/image" Target="../media/image42.png"/><Relationship Id="rId10" Type="http://schemas.openxmlformats.org/officeDocument/2006/relationships/image" Target="../media/image41.svg"/><Relationship Id="rId1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4.svg"/><Relationship Id="rId7" Type="http://schemas.openxmlformats.org/officeDocument/2006/relationships/image" Target="../media/image53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8.svg"/><Relationship Id="rId11" Type="http://schemas.openxmlformats.org/officeDocument/2006/relationships/image" Target="../media/image57.png"/><Relationship Id="rId10" Type="http://schemas.openxmlformats.org/officeDocument/2006/relationships/image" Target="../media/image56.sv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svg"/><Relationship Id="rId7" Type="http://schemas.openxmlformats.org/officeDocument/2006/relationships/image" Target="../media/image67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0.svg"/><Relationship Id="rId1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76.svg"/><Relationship Id="rId7" Type="http://schemas.openxmlformats.org/officeDocument/2006/relationships/image" Target="../media/image75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72.sv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80.svg"/><Relationship Id="rId11" Type="http://schemas.openxmlformats.org/officeDocument/2006/relationships/image" Target="../media/image79.png"/><Relationship Id="rId10" Type="http://schemas.openxmlformats.org/officeDocument/2006/relationships/image" Target="../media/image78.svg"/><Relationship Id="rId1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4.svg"/><Relationship Id="rId3" Type="http://schemas.openxmlformats.org/officeDocument/2006/relationships/image" Target="../media/image83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'80px 80px 56px', background: 'linear-gradient(135deg, #1E3A8A 0%, #0891B2 100%)', position: 'relative', overflow: 'hidden', flexDirection: 'column', justifyContent: 'space-between' }}&gt;&#10;    {/* 右上装饰 同心圆（bounding box 在画布内） */}&#10;    &lt;svg width={460} height={420} viewBox='0 0 460 420' style={{ position: 'absolute', top: 0, right: 0, opacity: 0.18 }}&gt;&#10;        &lt;circle cx='400' cy='80' r='170' fill='none' stroke='#FFFFFF' strokeWidth='1.5' /&gt;&#10;        &lt;circle cx='400' cy='80' r='120' fill='none' stroke='#FFFFFF' strokeWidth='1.5' /&gt;&#10;        &lt;circle cx='400' cy='80' r='70' fill='none' stroke='#FFFFFF' strokeWidth='1.5' /&gt;&#10;        &lt;circle cx='400' cy='80' r='26' fill='#F59E0B' opacity='0.9' /&gt;&#10;    &lt;/svg&gt;&#10;    {/* 左下装饰 点阵 */}&#10;    &lt;svg width={300} height={180} viewBox='0 0 300 180' style={{ position: 'absolute', bottom: 90, left: 0, opacity: 0.12 }}&gt;&#10;        {Array.from({length: 4}).map((_, i) =&gt; Array.from({length: 7}).map((_, j) =&gt; &lt;circle cx={24 + j * 42} cy={24 + i * 44} r='2' fill='#FFFFFF' /&gt;))}&#10;    &lt;/svg&gt;&#10;    {/* 顶部标签 */}&#10;    &lt;Box style={{ flexDirection: 'row', alignItems: 'center', gap: 14, zIndex: 1 }}&gt;&#10;        &lt;Box style={{ width: 4, height: 26, background: '#F59E0B', borderRadius: 2 }} /&gt;&#10;        &lt;Text style={{ fontSize: 18, color: '#FFFFFF', letterSpacing: 3, opacity: 0.9 }}&gt;技术评审汇报 · 2026&lt;/Text&gt;&#10;    &lt;/Box&gt;&#10;    {/* 中部标题 */}&#10;    &lt;Box style={{ flexDirection: 'column', gap: 24, zIndex: 1, width: 740 }}&gt;&#10;        &lt;Box style={{ flexDirection: 'column', gap: 10 }}&gt;&#10;            &lt;Text style={{ fontSize: 84, fontWeight: 'bold', color: '#FFFFFF', letterSpacing: 1, fontFamily: '&quot;Space Grotesk&quot;, &quot;Inter&quot;, sans-serif' }}&gt;InnoCite&lt;/Text&gt;&#10;            &lt;Text style={{ fontSize: 28, color: '#FFFFFF', opacity: 0.92, fontWeight: 600 }}&gt;学术论文创新点提炼与跨学科推荐系统&lt;/Text&gt;&#10;        &lt;/Box&gt;&#10;        &lt;Box style={{ width: 120, height: 3, background: 'rgba(255,255,255,0.5)', borderRadius: 2 }} /&gt;&#10;        &lt;Text style={{ fontSize: 22, color: '#67E8F9', fontWeight: 600, lineHeight: 1.5 }}&gt;面向科研人员的 AI 创新灵感引擎&lt;br /&gt;&lt;span style={{ fontSize: 18, color: '#FFFFFF', opacity: 0.75, fontWeight: 400 }}&gt;不止告诉你有什么，更告诉你下一步往哪走&lt;/span&gt;&lt;/Text&gt;&#10;    &lt;/Box&gt;&#10;    {/* 底部落款 */}&#10;    &lt;Box style={{ flexDirection: 'row', justifyContent: 'space-between', alignItems: 'center', zIndex: 1 }}&gt;&#10;        &lt;Text style={{ fontSize: 14, color: '#FFFFFF', opacity: 0.6 }}&gt;Alliancer · InnoCite Project&lt;/Text&gt;&#10;        &lt;Text style={{ fontSize: 14, color: '#FFFFFF', opacity: 0.6, fontFamily: '&quot;JetBrains Mono&quot;, monospace' }}&gt;01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0" y="0"/>
            <a:ext cx="4381500" cy="4000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alphaModFix amt="12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286250"/>
            <a:ext cx="2857500" cy="171450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762000" y="762000"/>
            <a:ext cx="38100" cy="2476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933450" y="781050"/>
            <a:ext cx="1952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22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r>
              <a:rPr lang="en-US" sz="1350" spc="225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2026</a:t>
            </a:r>
            <a:endParaRPr lang="en-US" sz="1350" spc="225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62000" y="2314575"/>
            <a:ext cx="70485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 spc="75">
                <a:solidFill>
                  <a:srgbClr val="FFFFFF"/>
                </a:solidFill>
                <a:latin typeface="Space Grotesk"/>
                <a:ea typeface="Space Grotesk"/>
              </a:rPr>
              <a:t>InnoCite</a:t>
            </a:r>
            <a:endParaRPr lang="en-US" sz="6300" b="1" spc="75">
              <a:solidFill>
                <a:srgbClr val="FFFFFF"/>
              </a:solidFill>
              <a:latin typeface="Space Grotesk"/>
              <a:ea typeface="Space Grotesk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62000" y="3924300"/>
            <a:ext cx="1143000" cy="28575"/>
          </a:xfrm>
          <a:prstGeom prst="roundRect">
            <a:avLst>
              <a:gd name="adj" fmla="val 66667"/>
            </a:avLst>
          </a:prstGeom>
          <a:solidFill>
            <a:srgbClr val="FFFFFF">
              <a:alpha val="50000"/>
            </a:srgbClr>
          </a:solidFill>
        </p:spPr>
        <p:txBody>
          <a:bodyPr/>
          <a:p/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4181475"/>
            <a:ext cx="70485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面向科研人员的</a:t>
            </a:r>
            <a:r>
              <a:rPr lang="en-US" sz="16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6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创新灵感引擎</a:t>
            </a:r>
            <a:endParaRPr lang="zh-CN" sz="1650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不止告诉你有什么，更告诉你下一步往哪走</a:t>
            </a:r>
            <a:endParaRPr lang="zh-CN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762000" y="3371850"/>
            <a:ext cx="70485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>
                    <a:alpha val="9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学术论文创新点提炼与跨学科推荐系统</a:t>
            </a:r>
            <a:endParaRPr lang="zh-CN" sz="2100" b="1">
              <a:solidFill>
                <a:srgbClr val="FFFFFF">
                  <a:alpha val="9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762000" y="6162675"/>
            <a:ext cx="16859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Alliancer · InnoCite Project</a:t>
            </a:r>
            <a:endParaRPr lang="en-US" sz="105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10868025" y="61626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01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Text style={{ fontSize: 34, fontWeight: 'bold', color: '#0F172A' }}&gt;汇报纲要&lt;/Text&gt;&#10;        &lt;Text style={{ fontSize: 16, color: '#64748B', marginLeft: 12 }}&gt;Contents&lt;/Text&gt;&#10;    &lt;/Box&gt;&#10;    {/* B 区内容：左标题栏 + 右条目 */}&#10;    &lt;Box style={{ position: 'absolute', top: 120, left: 0, right: 0, bottom: 60, flexDirection: 'row', padding: '0 64px' }}&gt;&#10;        {/* 左栏 色块标题 32% */}&#10;        &lt;Box style={{ width: '32%', background: 'linear-gradient(160deg, #1E3A8A 0%, #2563EB 100%)', borderRadius: 16, padding: 36, flexDirection: 'column', justifyContent: 'space-between', marginRight: 32 }}&gt;&#10;            &lt;Box style={{ flexDirection: 'column', gap: 16 }}&gt;&#10;                &lt;Text style={{ fontSize: 48, fontWeight: 'bold', color: '#FFFFFF', fontFamily: '&quot;Space Grotesk&quot;, sans-serif' }}&gt;05&lt;/Text&gt;&#10;                &lt;Text style={{ fontSize: 22, color: '#FFFFFF', opacity: 0.9, lineHeight: 1.5 }}&gt;个章节，覆盖从定位到规划的完整汇报链路&lt;/Text&gt;&#10;            &lt;/Box&gt;&#10;            &lt;Box style={{ flexDirection: 'row', alignItems: 'center', gap: 10 }}&gt;&#10;                &lt;FAIcon name='compass' style={{ fill: '#67E8F9', width: 22, height: 22 }} /&gt;&#10;                &lt;Text style={{ fontSize: 14, color: '#FFFFFF', opacity: 0.7 }}&gt;按章节顺序展开&lt;/Text&gt;&#10;            &lt;/Box&gt;&#10;        &lt;/Box&gt;&#10;        {/* 右栏 5 条目 */}&#10;        &lt;Box style={{ flex: 1, flexDirection: 'column', gap: 14, justifyContent: 'center' }}&gt;&#10;            {[&#10;                { no: '01', title: '项目定位', page: 'P03 — P04', desc: 'AI 创新灵感引擎的定位与赛事背景' },&#10;                { no: '02', title: '系统架构', page: 'P05 — P06', desc: '多层回退的应用工厂架构' },&#10;                { no: '03', title: '核心功能', page: 'P07 — P10', desc: '创新点提炼 · 跨学科推荐 · 热度与报告' },&#10;                { no: '04', title: '工程实现与评估', page: 'P11 — P12', desc: '工程健壮性与量化评估闭环' },&#10;                { no: '05', title: '风险与规划', page: 'P13 — P14', desc: '已知风险与下一步优化方向' },&#10;            ].map((item, idx) =&gt; (&#10;                &lt;Box key={idx} style={{ flexDirection: 'row', alignItems: 'center', gap: 20, padding: '14px 24px', background: '#F1F5F9', borderRadius: 12 }}&gt;&#10;                    &lt;Text style={{ fontSize: 32, fontWeight: 'bold', color: '#2563EB', fontFamily: '&quot;Space Grotesk&quot;, sans-serif', width: 56 }}&gt;{item.no}&lt;/Text&gt;&#10;                    &lt;Box style={{ flex: 1, flexDirection: 'column', gap: 4 }}&gt;&#10;                        &lt;Text style={{ fontSize: 20, fontWeight: 'bold', color: '#0F172A' }}&gt;{item.title}&lt;/Text&gt;&#10;                        &lt;Text style={{ fontSize: 14, color: '#64748B' }}&gt;{item.desc}&lt;/Text&gt;&#10;                    &lt;/Box&gt;&#10;                    &lt;Text style={{ fontSize: 14, color: '#0891B2', fontWeight: 600, fontFamily: '&quot;JetBrains Mono&quot;, monospace' }}&gt;{item.page}&lt;/Text&gt;&#10;                &lt;/Box&gt;&#10;            ))}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02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矩形 1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4" name="圆角矩形 193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00100" y="381000"/>
            <a:ext cx="12954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汇报纲要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2362200" y="476250"/>
            <a:ext cx="6572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09600" y="1143000"/>
            <a:ext cx="3514725" cy="514350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42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52500" y="1485900"/>
            <a:ext cx="282892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Space Grotesk"/>
                <a:ea typeface="Space Grotesk"/>
              </a:rPr>
              <a:t>5</a:t>
            </a:r>
            <a:endParaRPr lang="en-US" sz="3600" b="1">
              <a:solidFill>
                <a:srgbClr val="FFFFFF"/>
              </a:solidFill>
              <a:latin typeface="Space Grotesk"/>
              <a:ea typeface="Space Grotesk"/>
            </a:endParaRPr>
          </a:p>
        </p:txBody>
      </p:sp>
      <p:pic>
        <p:nvPicPr>
          <p:cNvPr id="199" name="图片 19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5734050"/>
            <a:ext cx="209550" cy="209550"/>
          </a:xfrm>
          <a:prstGeom prst="rect">
            <a:avLst/>
          </a:prstGeom>
        </p:spPr>
      </p:pic>
      <p:sp>
        <p:nvSpPr>
          <p:cNvPr id="200" name="圆角矩形 199"/>
          <p:cNvSpPr/>
          <p:nvPr/>
        </p:nvSpPr>
        <p:spPr>
          <a:xfrm>
            <a:off x="4429125" y="1714500"/>
            <a:ext cx="7153275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657725" y="1876425"/>
            <a:ext cx="533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pace Grotesk"/>
                <a:ea typeface="Space Grotesk"/>
              </a:rPr>
              <a:t>01</a:t>
            </a:r>
            <a:endParaRPr lang="en-US" sz="2400" b="1">
              <a:solidFill>
                <a:srgbClr val="2563EB"/>
              </a:solidFill>
              <a:latin typeface="Space Grotesk"/>
              <a:ea typeface="Space Grotesk"/>
            </a:endParaRPr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5381625" y="1847850"/>
            <a:ext cx="5057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381625" y="2114550"/>
            <a:ext cx="505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创新灵感引擎的定位与赛事背景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10629900" y="1981200"/>
            <a:ext cx="72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JetBrains Mono"/>
                <a:ea typeface="JetBrains Mono"/>
              </a:rPr>
              <a:t>P03 — P04</a:t>
            </a:r>
            <a:endParaRPr lang="en-US" sz="1050" b="1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4429125" y="2543175"/>
            <a:ext cx="7153275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4657725" y="2705100"/>
            <a:ext cx="533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pace Grotesk"/>
                <a:ea typeface="Space Grotesk"/>
              </a:rPr>
              <a:t>02</a:t>
            </a:r>
            <a:endParaRPr lang="en-US" sz="2400" b="1">
              <a:solidFill>
                <a:srgbClr val="2563EB"/>
              </a:solidFill>
              <a:latin typeface="Space Grotesk"/>
              <a:ea typeface="Space Grotesk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5381625" y="2676525"/>
            <a:ext cx="5057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5381625" y="2943225"/>
            <a:ext cx="505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多层回退的应用工厂架构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10629900" y="2809875"/>
            <a:ext cx="72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JetBrains Mono"/>
                <a:ea typeface="JetBrains Mono"/>
              </a:rPr>
              <a:t>P05 — P06</a:t>
            </a:r>
            <a:endParaRPr lang="en-US" sz="1050" b="1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210" name="圆角矩形 209"/>
          <p:cNvSpPr/>
          <p:nvPr/>
        </p:nvSpPr>
        <p:spPr>
          <a:xfrm>
            <a:off x="4429125" y="3371850"/>
            <a:ext cx="7153275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4657725" y="3533775"/>
            <a:ext cx="533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pace Grotesk"/>
                <a:ea typeface="Space Grotesk"/>
              </a:rPr>
              <a:t>03</a:t>
            </a:r>
            <a:endParaRPr lang="en-US" sz="2400" b="1">
              <a:solidFill>
                <a:srgbClr val="2563EB"/>
              </a:solidFill>
              <a:latin typeface="Space Grotesk"/>
              <a:ea typeface="Space Grotesk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5381625" y="3505200"/>
            <a:ext cx="5057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5381625" y="3771900"/>
            <a:ext cx="505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创新点提炼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跨学科推荐</a:t>
            </a: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热度与报告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10629900" y="3638550"/>
            <a:ext cx="72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JetBrains Mono"/>
                <a:ea typeface="JetBrains Mono"/>
              </a:rPr>
              <a:t>P07 — P10</a:t>
            </a:r>
            <a:endParaRPr lang="en-US" sz="1050" b="1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4429125" y="4200525"/>
            <a:ext cx="7153275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4657725" y="4362450"/>
            <a:ext cx="533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pace Grotesk"/>
                <a:ea typeface="Space Grotesk"/>
              </a:rPr>
              <a:t>04</a:t>
            </a:r>
            <a:endParaRPr lang="en-US" sz="2400" b="1">
              <a:solidFill>
                <a:srgbClr val="2563EB"/>
              </a:solidFill>
              <a:latin typeface="Space Grotesk"/>
              <a:ea typeface="Space Grotesk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5381625" y="4333875"/>
            <a:ext cx="5057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工程实现与评估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5381625" y="4600575"/>
            <a:ext cx="505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工程健壮性与量化评估闭环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10629900" y="4467225"/>
            <a:ext cx="72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JetBrains Mono"/>
                <a:ea typeface="JetBrains Mono"/>
              </a:rPr>
              <a:t>P11 — P12</a:t>
            </a:r>
            <a:endParaRPr lang="en-US" sz="1050" b="1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220" name="圆角矩形 219"/>
          <p:cNvSpPr/>
          <p:nvPr/>
        </p:nvSpPr>
        <p:spPr>
          <a:xfrm>
            <a:off x="4429125" y="5029200"/>
            <a:ext cx="7153275" cy="695325"/>
          </a:xfrm>
          <a:prstGeom prst="roundRect">
            <a:avLst>
              <a:gd name="adj" fmla="val 16438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4657725" y="5191125"/>
            <a:ext cx="533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Space Grotesk"/>
                <a:ea typeface="Space Grotesk"/>
              </a:rPr>
              <a:t>05</a:t>
            </a:r>
            <a:endParaRPr lang="en-US" sz="2400" b="1">
              <a:solidFill>
                <a:srgbClr val="2563EB"/>
              </a:solidFill>
              <a:latin typeface="Space Grotesk"/>
              <a:ea typeface="Space Grotesk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5381625" y="5162550"/>
            <a:ext cx="50577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风险与规划</a:t>
            </a:r>
            <a:endParaRPr lang="zh-CN"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5381625" y="5429250"/>
            <a:ext cx="5057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已知风险与下一步优化方向</a:t>
            </a:r>
            <a:endParaRPr lang="zh-CN" sz="10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10629900" y="5295900"/>
            <a:ext cx="7239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891B2"/>
                </a:solidFill>
                <a:latin typeface="JetBrains Mono"/>
                <a:ea typeface="JetBrains Mono"/>
              </a:rPr>
              <a:t>P13 — P14</a:t>
            </a:r>
            <a:endParaRPr lang="en-US" sz="1050" b="1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952500" y="2190750"/>
            <a:ext cx="2828925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个章节，覆盖从定位到规划的完整汇报链路</a:t>
            </a:r>
            <a:endParaRPr lang="zh-CN" sz="1650">
              <a:solidFill>
                <a:srgbClr val="FFFFFF">
                  <a:alpha val="9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1257300" y="5762625"/>
            <a:ext cx="933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按章节顺序展开</a:t>
            </a:r>
            <a:endParaRPr lang="zh-CN" sz="105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02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 descr="&lt;Slide style={{ width: '1280px', height: '720px', padding: 0, background: 'linear-gradient(125deg, #1E3A8A 0%, #0891B2 100%)', position: 'relative', overflow: 'hidden' }}&gt;&#10;    {/* 装饰：右侧大号轮廓数字 */}&#10;    &lt;Text style={{ position: 'absolute', right: -40, top: 40, fontSize: 480, fontWeight: 'bold', color: 'rgba(255,255,255,0.06)', fontFamily: '&quot;Space Grotesk&quot;, sans-serif', lineHeight: 1 }}&gt;01&lt;/Text&gt;&#10;    {/* 装饰：左下圆点阵 */}&#10;    &lt;svg width={240} height={240} viewBox='0 0 240 240' style={{ position: 'absolute', bottom: 40, left: 48, opacity: 0.18 }}&gt;&#10;        {Array.from({length: 6}).map((_, i) =&gt; Array.from({length: 6}).map((_, j) =&gt; &lt;circle cx={i * 40} cy={j * 40} r='2.5' fill='#FFFFFF' /&gt;))}&#10;    &lt;/svg&gt;&#10;    {/* 主内容居中偏左 */}&#10;    &lt;Box style={{ position: 'absolute', left: 96, top: 240, flexDirection: 'column', gap: 24 }}&gt;&#10;        &lt;Box style={{ flexDirection: 'row', alignItems: 'center', gap: 16 }}&gt;&#10;            &lt;Box style={{ width: 56, height: 4, background: '#F59E0B', borderRadius: 2 }} /&gt;&#10;            &lt;Text style={{ fontSize: 20, color: '#67E8F9', letterSpacing: 4, fontWeight: 600 }}&gt;CHAPTER 01&lt;/Text&gt;&#10;        &lt;/Box&gt;&#10;        &lt;Text style={{ fontSize: 76, fontWeight: 'bold', color: '#FFFFFF', lineHeight: 1.1 }}&gt;项目定位&lt;/Text&gt;&#10;        &lt;Text style={{ fontSize: 26, color: '#FFFFFF', opacity: 0.85, lineHeight: 1.5 }}&gt;AI 创新灵感引擎，不止检索 —— 告诉你下一步往哪走&lt;/Text&gt;&#10;    &lt;/Box&gt;&#10;    {/* 底部页码 */}&#10;    &lt;Box style={{ position: 'absolute', bottom: 40, right: 64 }}&gt;&#10;        &lt;Text style={{ fontSize: 14, color: '#FFFFFF', opacity: 0.6, fontFamily: '&quot;JetBrains Mono&quot;, monospace' }}&gt;03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01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191000"/>
            <a:ext cx="2286000" cy="2286000"/>
          </a:xfrm>
          <a:prstGeom prst="rect">
            <a:avLst/>
          </a:prstGeom>
        </p:spPr>
      </p:pic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1600200" y="2286000"/>
            <a:ext cx="1590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CHAPTER 01</a:t>
            </a:r>
            <a:endParaRPr lang="en-US" sz="150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创新灵感引擎，不止检索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告诉你下一步往哪走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03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为什么做 InnoCite&lt;/Text&gt;&#10;            &lt;Text style={{ fontSize: 15, color: '#64748B' }}&gt;科研人员的三个真实痛点&lt;/Text&gt;&#10;        &lt;/Box&gt;&#10;    &lt;/Box&gt;&#10;    {/* B 区内容：左 60% 痛点 + 右 40% 定位 */}&#10;    &lt;Box style={{ position: 'absolute', top: 120, left: 0, right: 0, bottom: 60, flexDirection: 'row', padding: '0 64px', gap: 32 }}&gt;&#10;        {/* 左栏 痛点列表 60% */}&#10;        &lt;Box style={{ width: '60%', flexDirection: 'column', gap: 18, justifyContent: 'center' }}&gt;&#10;            {[&#10;                { icon: 'search', title: '论文海量，难以筛选', desc: 'arXiv 日增数千篇，纯关键词检索难以触达真正相关的研究，研究者淹没在文献洪流中。' },&#10;                { icon: 'lightbulb', title: '创新点需人工提炼', desc: '每篇论文的「问题-方法-效果」需逐篇阅读总结，耗时耗力，且提炼质量因人而异。' },&#10;                { icon: 'project-diagram', title: '跨学科灵感难发现', desc: '学科壁垒下，可迁移的方法论难以被研究者主动发现，错失跨领域创新迁移的机会。' },&#10;            ].map((item, idx) =&gt; (&#10;                &lt;Box key={idx} style={{ flexDirection: 'row', gap: 20, padding: 20, background: '#F1F5F9', borderRadius: 12, alignItems: 'flex-start' }}&gt;&#10;                    &lt;Box style={{ width: 52, height: 52, borderRadius: 12, background: '#DBEAFE', justifyContent: 'center', alignItems: 'center', flexShrink: 0 }}&gt;&#10;                        &lt;FAIcon name={item.icon} style={{ fill: '#2563EB', width: 26, height: 26 }} /&gt;&#10;                    &lt;/Box&gt;&#10;                    &lt;Box style={{ flex: 1, flexDirection: 'column', gap: 6 }}&gt;&#10;                        &lt;Text style={{ fontSize: 19, fontWeight: 'bold', color: '#0F172A' }}&gt;{item.title}&lt;/Text&gt;&#10;                        &lt;Text style={{ fontSize: 15, color: '#475569', lineHeight: 1.55 }}&gt;{item.desc}&lt;/Text&gt;&#10;                    &lt;/Box&gt;&#10;                &lt;/Box&gt;&#10;            ))}&#10;        &lt;/Box&gt;&#10;        {/* 右栏 定位句 40% */}&#10;        &lt;Box style={{ width: '40%', background: 'linear-gradient(160deg, #1E3A8A 0%, #0891B2 100%)', borderRadius: 16, padding: 32, flexDirection: 'column', justifyContent: 'space-between' }}&gt;&#10;            &lt;Box style={{ flexDirection: 'column', gap: 18 }}&gt;&#10;                &lt;FAIcon name='compass' style={{ fill: '#F59E0B', width: 40, height: 40 }} /&gt;&#10;                &lt;Text style={{ fontSize: 24, fontWeight: 'bold', color: '#FFFFFF', lineHeight: 1.4 }}&gt;不止告诉你有什么，&lt;br /&gt;更告诉你下一步往哪走&lt;/Text&gt;&#10;                &lt;Box style={{ width: 48, height: 3, background: 'rgba(255,255,255,0.4)', borderRadius: 2 }} /&gt;&#10;                &lt;Text style={{ fontSize: 15, color: '#FFFFFF', opacity: 0.85, lineHeight: 1.6 }}&gt;面向科研人员的 &lt;span style={{ color: '#67E8F9', fontWeight: 600 }}&gt;AI 创新灵感引擎&lt;/span&gt;，从检索工具升级为创新方向指引。&lt;/Text&gt;&#10;            &lt;/Box&gt;&#10;            &lt;Box style={{ flexDirection: 'column', gap: 6, padding: '16px 0 0', borderTop: '1px solid rgba(255,255,255,0.2)' }}&gt;&#10;                &lt;Text style={{ fontSize: 13, color: '#67E8F9', fontWeight: 600 }}&gt;参赛定位&lt;/Text&gt;&#10;                &lt;Text style={{ fontSize: 14, color: '#FFFFFF', opacity: 0.85 }}&gt;iCAN 2026 创新赛道 · AI + 智能教育（科研场景）&lt;/Text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04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矩形 2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40" name="圆角矩形 239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800100" y="295275"/>
            <a:ext cx="27717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为什么做</a:t>
            </a:r>
            <a:r>
              <a:rPr 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InnoCite</a:t>
            </a:r>
            <a:endParaRPr lang="en-US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800100" y="685800"/>
            <a:ext cx="2771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科研人员的三个真实痛点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>
            <p:custDataLst>
              <p:tags r:id="rId1"/>
            </p:custDataLst>
          </p:nvPr>
        </p:nvSpPr>
        <p:spPr>
          <a:xfrm>
            <a:off x="609600" y="2028825"/>
            <a:ext cx="6400800" cy="1190625"/>
          </a:xfrm>
          <a:prstGeom prst="roundRect">
            <a:avLst>
              <a:gd name="adj" fmla="val 9600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44" name="圆角矩形 243"/>
          <p:cNvSpPr/>
          <p:nvPr>
            <p:custDataLst>
              <p:tags r:id="rId2"/>
            </p:custDataLst>
          </p:nvPr>
        </p:nvSpPr>
        <p:spPr>
          <a:xfrm>
            <a:off x="800100" y="221932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  <p:txBody>
          <a:bodyPr/>
          <a:p/>
        </p:txBody>
      </p:sp>
      <p:pic>
        <p:nvPicPr>
          <p:cNvPr id="245" name="图片 24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3925" y="2343150"/>
            <a:ext cx="247650" cy="247650"/>
          </a:xfrm>
          <a:prstGeom prst="rect">
            <a:avLst/>
          </a:prstGeom>
        </p:spPr>
      </p:pic>
      <p:sp>
        <p:nvSpPr>
          <p:cNvPr id="246" name="文本框 245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1485900" y="2219325"/>
            <a:ext cx="5334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论文海量，难以筛选</a:t>
            </a:r>
            <a:endParaRPr lang="zh-CN" sz="14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1485900" y="2495550"/>
            <a:ext cx="53340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arXiv 日增 500+ 篇，Google Scholar 收录超 2 亿篇。
纯关键词检索命中率低，研究者淹没在文献洪流中。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圆角矩形 247"/>
          <p:cNvSpPr/>
          <p:nvPr>
            <p:custDataLst>
              <p:tags r:id="rId8"/>
            </p:custDataLst>
          </p:nvPr>
        </p:nvSpPr>
        <p:spPr>
          <a:xfrm>
            <a:off x="609600" y="3390900"/>
            <a:ext cx="6400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49" name="圆角矩形 248"/>
          <p:cNvSpPr/>
          <p:nvPr>
            <p:custDataLst>
              <p:tags r:id="rId9"/>
            </p:custDataLst>
          </p:nvPr>
        </p:nvSpPr>
        <p:spPr>
          <a:xfrm>
            <a:off x="800100" y="358140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  <p:txBody>
          <a:bodyPr/>
          <a:p/>
        </p:txBody>
      </p:sp>
      <p:pic>
        <p:nvPicPr>
          <p:cNvPr id="250" name="图片 24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3925" y="3705225"/>
            <a:ext cx="247650" cy="247650"/>
          </a:xfrm>
          <a:prstGeom prst="rect">
            <a:avLst/>
          </a:prstGeom>
        </p:spPr>
      </p:pic>
      <p:sp>
        <p:nvSpPr>
          <p:cNvPr id="251" name="文本框 250" descr="{&quot;isTemplate&quot;:true,&quot;type&quot;:&quot;text&quot;}"/>
          <p:cNvSpPr txBox="1"/>
          <p:nvPr>
            <p:custDataLst>
              <p:tags r:id="rId13"/>
            </p:custDataLst>
          </p:nvPr>
        </p:nvSpPr>
        <p:spPr>
          <a:xfrm>
            <a:off x="1485900" y="3581400"/>
            <a:ext cx="5334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创新点需人工提炼</a:t>
            </a:r>
            <a:endParaRPr lang="zh-CN" sz="14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1485900" y="3857625"/>
            <a:ext cx="53340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每篇论文的「问题-方法-效果」需 15-30 分钟逐篇总结，
质量因人而异，结构化程度低。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>
            <p:custDataLst>
              <p:tags r:id="rId15"/>
            </p:custDataLst>
          </p:nvPr>
        </p:nvSpPr>
        <p:spPr>
          <a:xfrm>
            <a:off x="609600" y="4486275"/>
            <a:ext cx="6400800" cy="923925"/>
          </a:xfrm>
          <a:prstGeom prst="roundRect">
            <a:avLst>
              <a:gd name="adj" fmla="val 12371"/>
            </a:avLst>
          </a:prstGeom>
          <a:solidFill>
            <a:srgbClr val="F1F5F9"/>
          </a:solidFill>
        </p:spPr>
        <p:txBody>
          <a:bodyPr/>
          <a:p/>
        </p:txBody>
      </p:sp>
      <p:sp>
        <p:nvSpPr>
          <p:cNvPr id="254" name="圆角矩形 253"/>
          <p:cNvSpPr/>
          <p:nvPr>
            <p:custDataLst>
              <p:tags r:id="rId16"/>
            </p:custDataLst>
          </p:nvPr>
        </p:nvSpPr>
        <p:spPr>
          <a:xfrm>
            <a:off x="800100" y="46767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DBEAFE"/>
          </a:solidFill>
        </p:spPr>
        <p:txBody>
          <a:bodyPr/>
          <a:p/>
        </p:txBody>
      </p:sp>
      <p:pic>
        <p:nvPicPr>
          <p:cNvPr id="255" name="图片 25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23925" y="4800600"/>
            <a:ext cx="247650" cy="247650"/>
          </a:xfrm>
          <a:prstGeom prst="rect">
            <a:avLst/>
          </a:prstGeom>
        </p:spPr>
      </p:pic>
      <p:sp>
        <p:nvSpPr>
          <p:cNvPr id="256" name="文本框 255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1485900" y="4676775"/>
            <a:ext cx="53340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跨学科灵感难发现</a:t>
            </a:r>
            <a:endParaRPr lang="zh-CN" sz="14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21"/>
            </p:custDataLst>
          </p:nvPr>
        </p:nvSpPr>
        <p:spPr>
          <a:xfrm>
            <a:off x="1485900" y="4953000"/>
            <a:ext cx="53340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Nature 数据显示 40% 突破性创新来自跨学科。
学科壁垒下，可迁移的方法论难以主动发现。</a:t>
            </a:r>
            <a:endParaRPr lang="zh-CN" sz="112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圆角矩形 257"/>
          <p:cNvSpPr/>
          <p:nvPr/>
        </p:nvSpPr>
        <p:spPr>
          <a:xfrm>
            <a:off x="7315200" y="1143000"/>
            <a:ext cx="4267200" cy="5143500"/>
          </a:xfrm>
          <a:prstGeom prst="roundRect">
            <a:avLst>
              <a:gd name="adj" fmla="val 3571"/>
            </a:avLst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620000" y="1447800"/>
            <a:ext cx="381000" cy="381000"/>
          </a:xfrm>
          <a:prstGeom prst="rect">
            <a:avLst/>
          </a:prstGeom>
        </p:spPr>
      </p:pic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7620000" y="2000250"/>
            <a:ext cx="3657600" cy="771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不止告诉你有什么，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更告诉你下一步往哪走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圆角矩形 260"/>
          <p:cNvSpPr/>
          <p:nvPr/>
        </p:nvSpPr>
        <p:spPr>
          <a:xfrm>
            <a:off x="7620000" y="294322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FFFFFF">
              <a:alpha val="40000"/>
            </a:srgbClr>
          </a:solidFill>
        </p:spPr>
        <p:txBody>
          <a:bodyPr/>
          <a:p/>
        </p:txBody>
      </p:sp>
      <p:sp>
        <p:nvSpPr>
          <p:cNvPr id="262" name="任意多边形 261"/>
          <p:cNvSpPr/>
          <p:nvPr/>
        </p:nvSpPr>
        <p:spPr>
          <a:xfrm>
            <a:off x="7620000" y="5448300"/>
            <a:ext cx="3657600" cy="542925"/>
          </a:xfrm>
          <a:custGeom>
            <a:avLst/>
            <a:gdLst/>
            <a:ahLst/>
            <a:cxnLst/>
            <a:pathLst>
              <a:path w="384" h="57">
                <a:moveTo>
                  <a:pt x="0" y="0"/>
                </a:moveTo>
                <a:lnTo>
                  <a:pt x="384" y="0"/>
                </a:lnTo>
                <a:lnTo>
                  <a:pt x="3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620000" y="5610225"/>
            <a:ext cx="3657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参赛定位</a:t>
            </a:r>
            <a:endParaRPr lang="zh-CN" sz="975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7620000" y="3143250"/>
            <a:ext cx="36576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面向科研人员的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67E8F9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>
                <a:solidFill>
                  <a:srgbClr val="67E8F9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创新灵感引擎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，从检索工具升级为创新方向指引。</a:t>
            </a:r>
            <a:endParaRPr lang="zh-CN" sz="112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620000" y="5819775"/>
            <a:ext cx="36576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iCAN 2026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创新赛道</a:t>
            </a:r>
            <a:r>
              <a:rPr lang="en-US" sz="10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AI + </a:t>
            </a:r>
            <a:r>
              <a:rPr lang="zh-CN" sz="10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智能教育（科研场景）</a:t>
            </a:r>
            <a:endParaRPr lang="zh-CN" sz="10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04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圆角矩形 5"/>
          <p:cNvSpPr/>
          <p:nvPr>
            <p:custDataLst>
              <p:tags r:id="rId1"/>
            </p:custDataLst>
          </p:nvPr>
        </p:nvSpPr>
        <p:spPr>
          <a:xfrm>
            <a:off x="6317615" y="5029200"/>
            <a:ext cx="5351780" cy="457835"/>
          </a:xfrm>
          <a:prstGeom prst="roundRect">
            <a:avLst>
              <a:gd name="adj" fmla="val 9600"/>
            </a:avLst>
          </a:prstGeom>
          <a:solidFill>
            <a:schemeClr val="bg2"/>
          </a:solidFill>
        </p:spPr>
        <p:txBody>
          <a:bodyPr/>
          <a:p/>
        </p:txBody>
      </p:sp>
      <p:sp>
        <p:nvSpPr>
          <p:cNvPr id="5" name="圆角矩形 4"/>
          <p:cNvSpPr/>
          <p:nvPr>
            <p:custDataLst>
              <p:tags r:id="rId2"/>
            </p:custDataLst>
          </p:nvPr>
        </p:nvSpPr>
        <p:spPr>
          <a:xfrm>
            <a:off x="6317615" y="1924050"/>
            <a:ext cx="5351780" cy="457835"/>
          </a:xfrm>
          <a:prstGeom prst="roundRect">
            <a:avLst>
              <a:gd name="adj" fmla="val 9600"/>
            </a:avLst>
          </a:prstGeom>
          <a:solidFill>
            <a:schemeClr val="bg2"/>
          </a:solidFill>
        </p:spPr>
        <p:txBody>
          <a:bodyPr/>
          <a:p/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6317615" y="3476625"/>
            <a:ext cx="5351780" cy="457835"/>
          </a:xfrm>
          <a:prstGeom prst="roundRect">
            <a:avLst>
              <a:gd name="adj" fmla="val 9600"/>
            </a:avLst>
          </a:prstGeom>
          <a:solidFill>
            <a:schemeClr val="bg2"/>
          </a:solidFill>
        </p:spPr>
        <p:txBody>
          <a:bodyPr/>
          <a:p/>
        </p:txBody>
      </p:sp>
      <p:sp>
        <p:nvSpPr>
          <p:cNvPr id="3" name="圆角矩形 2"/>
          <p:cNvSpPr/>
          <p:nvPr>
            <p:custDataLst>
              <p:tags r:id="rId4"/>
            </p:custDataLst>
          </p:nvPr>
        </p:nvSpPr>
        <p:spPr>
          <a:xfrm>
            <a:off x="617220" y="2629535"/>
            <a:ext cx="5324475" cy="2033905"/>
          </a:xfrm>
          <a:prstGeom prst="roundRect">
            <a:avLst>
              <a:gd name="adj" fmla="val 9600"/>
            </a:avLst>
          </a:prstGeom>
          <a:gradFill>
            <a:gsLst>
              <a:gs pos="50000">
                <a:schemeClr val="accent1"/>
              </a:gs>
              <a:gs pos="0">
                <a:schemeClr val="accent1">
                  <a:lumMod val="25000"/>
                  <a:lumOff val="75000"/>
                </a:schemeClr>
              </a:gs>
              <a:gs pos="100000">
                <a:schemeClr val="accent1">
                  <a:lumMod val="85000"/>
                </a:schemeClr>
              </a:gs>
            </a:gsLst>
            <a:lin ang="5400000" scaled="1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rgbClr val="1E3A8A"/>
                    </a:gs>
                    <a:gs pos="100000">
                      <a:srgbClr val="0891B2"/>
                    </a:gs>
                  </a:gsLst>
                  <a:lin ang="2100000" scaled="1"/>
                </a:gradFill>
              </a14:hiddenFill>
            </a:ext>
          </a:extLst>
        </p:spPr>
        <p:txBody>
          <a:bodyPr/>
          <a:p/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sz="5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chemeClr val="tx1">
                    <a:alpha val="8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三维能力对应三大痛点 · 从检索到创新方向</a:t>
            </a:r>
            <a:endParaRPr lang="en-US" sz="1950">
              <a:solidFill>
                <a:schemeClr val="tx1">
                  <a:alpha val="8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05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智能检索与分类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6400800" y="19202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</a:rPr>
              <a:t>5 种导入方式（arXiv ID / 关键词搜索 / CSV / PDF / EndNote），SBERT 自动分类到 10+ 学科。</a:t>
            </a:r>
            <a:endParaRPr sz="1300" b="0">
              <a:solidFill>
                <a:schemeClr val="tx1"/>
              </a:solidFill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6400800" y="2926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三维结构化建模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</a:rPr>
              <a:t>LLM + 规则双轨提取「问题-方法-效果」，结构化、可比较、可检索，区别于纯摘要截取。</a:t>
            </a:r>
            <a:endParaRPr sz="1300" b="0">
              <a:solidFill>
                <a:schemeClr val="tx1"/>
              </a:solidFill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640080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tx1"/>
                </a:solidFill>
              </a:rPr>
              <a:t>跨学科迁移发现</a:t>
            </a:r>
            <a:endParaRPr sz="1800" b="1">
              <a:solidFill>
                <a:schemeClr val="tx1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640080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chemeClr val="tx1"/>
                </a:solidFill>
              </a:rPr>
              <a:t>SBERT 384 维语义向量 + 批量矩阵运算，发现不同学科间可迁移的方法论，打破学科壁垒。</a:t>
            </a:r>
            <a:endParaRPr sz="1300" b="0">
              <a:solidFill>
                <a:schemeClr val="tx1"/>
              </a:solidFill>
            </a:endParaRPr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36000" b="1">
                <a:solidFill>
                  <a:schemeClr val="tx1">
                    <a:alpha val="6000"/>
                  </a:schemeClr>
                </a:solidFill>
                <a:latin typeface="Space Grotesk"/>
                <a:ea typeface="Space Grotesk"/>
                <a:sym typeface="+mn-ea"/>
              </a:rPr>
              <a:t>01</a:t>
            </a:r>
            <a:endParaRPr lang="en-US" sz="36000" b="1">
              <a:solidFill>
                <a:schemeClr val="tx1">
                  <a:alpha val="6000"/>
                </a:schemeClr>
              </a:solidFill>
              <a:latin typeface="Space Grotesk"/>
              <a:ea typeface="Space Grotesk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" descr="&lt;Slide style={{ width: '1280px', height: '720px', padding: 0, background: 'linear-gradient(125deg, #1E3A8A 0%, #0891B2 100%)', position: 'relative', overflow: 'hidden' }}&gt;&#10;    &lt;Text style={{ position: 'absolute', right: -40, top: 40, fontSize: 480, fontWeight: 'bold', color: 'rgba(255,255,255,0.06)', fontFamily: '&quot;Space Grotesk&quot;, sans-serif', lineHeight: 1 }}&gt;02&lt;/Text&gt;&#10;    &lt;svg width={240} height={240} viewBox='0 0 240 240' style={{ position: 'absolute', bottom: 40, left: 48, opacity: 0.18 }}&gt;&#10;        {Array.from({length: 6}).map((_, i) =&gt; Array.from({length: 6}).map((_, j) =&gt; &lt;circle cx={i * 40} cy={j * 40} r='2.5' fill='#FFFFFF' /&gt;))}&#10;    &lt;/svg&gt;&#10;    &lt;Box style={{ position: 'absolute', left: 96, top: 240, flexDirection: 'column', gap: 24 }}&gt;&#10;        &lt;Box style={{ flexDirection: 'row', alignItems: 'center', gap: 16 }}&gt;&#10;            &lt;Box style={{ width: 56, height: 4, background: '#F59E0B', borderRadius: 2 }} /&gt;&#10;            &lt;Text style={{ fontSize: 20, color: '#67E8F9', letterSpacing: 4, fontWeight: 600 }}&gt;CHAPTER 02&lt;/Text&gt;&#10;        &lt;/Box&gt;&#10;        &lt;Text style={{ fontSize: 76, fontWeight: 'bold', color: '#FFFFFF', lineHeight: 1.1 }}&gt;系统架构&lt;/Text&gt;&#10;        &lt;Text style={{ fontSize: 26, color: '#FFFFFF', opacity: 0.85, lineHeight: 1.5 }}&gt;多层回退，断网仍可用 —— 双轨兜底的工程能力&lt;/Text&gt;&#10;    &lt;/Box&gt;&#10;    &lt;Box style={{ position: 'absolute', bottom: 40, right: 64 }}&gt;&#10;        &lt;Text style={{ fontSize: 14, color: '#FFFFFF', opacity: 0.6, fontFamily: '&quot;JetBrains Mono&quot;, monospace' }}&gt;05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矩形 2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02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pic>
        <p:nvPicPr>
          <p:cNvPr id="271" name="图片 270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191000"/>
            <a:ext cx="2286000" cy="2286000"/>
          </a:xfrm>
          <a:prstGeom prst="rect">
            <a:avLst/>
          </a:prstGeom>
        </p:spPr>
      </p:pic>
      <p:sp>
        <p:nvSpPr>
          <p:cNvPr id="272" name="圆角矩形 271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600200" y="2286000"/>
            <a:ext cx="1590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CHAPTER 02</a:t>
            </a:r>
            <a:endParaRPr lang="en-US" sz="150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914400" y="2743200"/>
            <a:ext cx="53911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914400" y="3933825"/>
            <a:ext cx="53911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多层回退，断网仍可用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双轨兜底的工程能力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06 / 15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多层回退的应用工厂架构&lt;/Text&gt;&#10;            &lt;Text style={{ fontSize: 15, color: '#64748B' }}&gt;四层分层 · 主方案 + 兜底 · 断网仍可用&lt;/Text&gt;&#10;        &lt;/Box&gt;&#10;    &lt;/Box&gt;&#10;    {/* B 区：左 60% 架构图 + 右 40% 决策 */}&#10;    &lt;Box style={{ position: 'absolute', top: 120, left: 0, right: 0, bottom: 60, flexDirection: 'row', padding: '0 64px', gap: 28 }}&gt;&#10;        {/* 左栏 架构图 */}&#10;        &lt;Box style={{ width: '60%', flexDirection: 'column', gap: 10 }}&gt;&#10;            &lt;Text style={{ fontSize: 14, color: '#64748B', fontWeight: 600, letterSpacing: 1 }}&gt;ARCHITECTURE · 四层分层&lt;/Text&gt;&#10;            {/* 层1 接入层 */}&#10;            &lt;Box style={{ background: '#EFF6FF', border: '1px solid #BFDBFE', borderRadius: 10, padding: '12px 16px', flexDirection: 'column', gap: 8 }}&gt;&#10;                &lt;Box style={{ flexDirection: 'row', alignItems: 'center', gap: 8 }}&gt;&#10;                    &lt;Box style={{ width: 6, height: 16, background: '#2563EB', borderRadius: 2 }} /&gt;&#10;                    &lt;Text style={{ fontSize: 15, fontWeight: 'bold', color: '#1E40AF' }}&gt;接入层 · 5 种导入&lt;/Text&gt;&#10;                &lt;/Box&gt;&#10;                &lt;Box style={{ flexDirection: 'row', gap: 8, flexWrap: 'wrap' }}&gt;&#10;                    {['arXiv ID', '关键词搜索', 'CSV', 'PDF', 'EndNote'].map((t, i) =&gt; (&#10;                        &lt;Box key={i} style={{ padding: '4px 12px', background: '#FFFFFF', border: '1px solid #DBEAFE', borderRadius: 6 }}&gt;&lt;Text style={{ fontSize: 13, color: '#1E40AF' }}&gt;{t}&lt;/Text&gt;&lt;/Box&gt;&#10;                    ))}&#10;                &lt;/Box&gt;&#10;            &lt;/Box&gt;&#10;            &lt;Box style={{ alignItems: 'center' }}&gt;&lt;FAIcon name='chevron-down' style={{ fill: '#93C5FD', width: 18, height: 18 }} /&gt;&lt;/Box&gt;&#10;            {/* 层2 服务层 */}&#10;            &lt;Box style={{ background: '#DBEAFE', border: '1px solid #93C5FD', borderRadius: 10, padding: '12px 16px', flexDirection: 'column', gap: 8 }}&gt;&#10;                &lt;Box style={{ flexDirection: 'row', alignItems: 'center', gap: 8 }}&gt;&#10;                    &lt;Box style={{ width: 6, height: 16, background: '#2563EB', borderRadius: 2 }} /&gt;&#10;                    &lt;Text style={{ fontSize: 15, fontWeight: 'bold', color: '#1E40AF' }}&gt;服务层 · Flask 应用工厂 + 8 蓝图&lt;/Text&gt;&#10;                &lt;/Box&gt;&#10;                &lt;Text style={{ fontSize: 13, color: '#1E40AF', opacity: 0.85 }}&gt;auth · papers · innovation · trends · recommend · report · admin · bookmarks&lt;/Text&gt;&#10;            &lt;/Box&gt;&#10;            &lt;Box style={{ alignItems: 'center' }}&gt;&lt;FAIcon name='chevron-down' style={{ fill: '#93C5FD', width: 18, height: 18 }} /&gt;&lt;/Box&gt;&#10;            {/* 层3 能力层 双轨 */}&#10;            &lt;Box style={{ background: '#F0FDFA', border: '1px solid #5EEAD4', borderRadius: 10, padding: '12px 16px', flexDirection: 'column', gap: 10 }}&gt;&#10;                &lt;Box style={{ flexDirection: 'row', alignItems: 'center', gap: 8 }}&gt;&#10;                    &lt;Box style={{ width: 6, height: 16, background: '#0891B2', borderRadius: 2 }} /&gt;&#10;                    &lt;Text style={{ fontSize: 15, fontWeight: 'bold', color: '#0E7490' }}&gt;能力层 · 主力 → 兜底（双轨）&lt;/Text&gt;&#10;                &lt;/Box&gt;&#10;                &lt;Box style={{ flexDirection: 'row', gap: 8, flexWrap: 'wrap' }}&gt;&#10;                    {[&#10;                        { main: 'DeepSeek LLM', fb: '规则引擎' },&#10;                        { main: 'SBERT 384维', fb: 'TF-IDF' },&#10;                        { main: 'GROBID', fb: 'pdfplumber' },&#10;                        { main: 'KeyBERT', fb: 'TF-IDF' },&#10;                    ].map((c, i) =&gt; (&#10;                        &lt;Box key={i} style={{ flex: 1, minWidth: 130, background: '#FFFFFF', border: '1px solid #A5F3FC', borderRadius: 8, padding: 10, flexDirection: 'column', gap: 4 }}&gt;&#10;                            &lt;Text style={{ fontSize: 13, fontWeight: 'bold', color: '#0E7490' }}&gt;{c.main}&lt;/Text&gt;&#10;                            &lt;Box style={{ flexDirection: 'row', alignItems: 'center', gap: 6 }}&gt;&#10;                                &lt;FAIcon name='arrow-right' style={{ fill: '#94A3B8', width: 10, height: 10 }} /&gt;&#10;                                &lt;Text style={{ fontSize: 12, color: '#64748B' }}&gt;兜底：{c.fb}&lt;/Text&gt;&#10;                            &lt;/Box&gt;&#10;                        &lt;/Box&gt;&#10;                    ))}&#10;                &lt;/Box&gt;&#10;            &lt;/Box&gt;&#10;            &lt;Box style={{ alignItems: 'center' }}&gt;&lt;FAIcon name='chevron-down' style={{ fill: '#93C5FD', width: 18, height: 18 }} /&gt;&lt;/Box&gt;&#10;            {/* 层4 存储层 */}&#10;            &lt;Box style={{ background: '#1E3A8A', borderRadius: 10, padding: '12px 16px', flexDirection: 'row', alignItems: 'center', gap: 10 }}&gt;&#10;                &lt;FAIcon name='database' style={{ fill: '#67E8F9', width: 22, height: 22 }} /&gt;&#10;                &lt;Box style={{ flexDirection: 'column' }}&gt;&#10;                    &lt;Text style={{ fontSize: 15, fontWeight: 'bold', color: '#FFFFFF' }}&gt;存储层 · SQLite + SQLAlchemy ORM&lt;/Text&gt;&#10;                    &lt;Text style={{ fontSize: 12, color: '#FFFFFF', opacity: 0.7 }}&gt;Paper · Innovation · PaperEmbedding · Recommendation&lt;/Text&gt;&#10;                &lt;/Box&gt;&#10;            &lt;/Box&gt;&#10;        &lt;/Box&gt;&#10;        {/* 右栏 三大决策 */}&#10;        &lt;Box style={{ width: '40%', flexDirection: 'column', gap: 14, justifyContent: 'center' }}&gt;&#10;            &lt;Text style={{ fontSize: 14, color: '#64748B', fontWeight: 600, letterSpacing: 1 }}&gt;三大架构决策&lt;/Text&gt;&#10;            {[&#10;                { no: '01', title: '应用工厂 + 蓝图拆分', desc: 'create_app() 工厂模式，8 个路由蓝图独立注册，职责单一易维护。' },&#10;                { no: '02', title: '每个能力主方案 + 兜底', desc: 'LLM/SBERT/GROBID/KeyBERT 均有回退，断网自动降级，功能不丢。' },&#10;                { no: '03', title: '全局 SBERT 单例管理', desc: 'SBERTManager 统一加载，避免重复实例化，维度动态查询。' },&#10;            ].map((d, i) =&gt; (&#10;                &lt;Box key={i} style={{ padding: 16, background: '#F8FAFC', borderLeft: '3px solid #F59E0B', borderRadius: 8, flexDirection: 'column', gap: 6 }}&gt;&#10;                    &lt;Box style={{ flexDirection: 'row', alignItems: 'center', gap: 10 }}&gt;&#10;                        &lt;Text style={{ fontSize: 22, fontWeight: 'bold', color: '#F59E0B', fontFamily: '&quot;Space Grotesk&quot;, sans-serif' }}&gt;{d.no}&lt;/Text&gt;&#10;                        &lt;Text style={{ fontSize: 17, fontWeight: 'bold', color: '#0F172A' }}&gt;{d.title}&lt;/Text&gt;&#10;                    &lt;/Box&gt;&#10;                    &lt;Text style={{ fontSize: 14, color: '#475569', lineHeight: 1.5 }}&gt;{d.desc}&lt;/Text&gt;&#10;                &lt;/Box&gt;&#10;            ))}&#10;            &lt;Box style={{ padding: '12px 16px', background: '#FEF3C7', borderRadius: 8, flexDirection: 'row', gap: 10, alignItems: 'center' }}&gt;&#10;                &lt;FAIcon name='shield-alt' style={{ fill: '#F59E0B', width: 20, height: 20 }} /&gt;&#10;                &lt;Text style={{ fontSize: 13, color: '#92400E', lineHeight: 1.5 }}&gt;断网回退 = 规则引擎 + TF-IDF，&lt;span style={{ fontWeight: 'bold' }}&gt;最简可用不丢功能&lt;/span&gt;&lt;/Text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06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矩形 2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79" name="圆角矩形 278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800100" y="295275"/>
            <a:ext cx="35623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多层回退的应用工厂架构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800100" y="685800"/>
            <a:ext cx="3562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四层分层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主方案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断网仍可用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609600" y="1143000"/>
            <a:ext cx="6419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ARCHITECTURE · </a:t>
            </a:r>
            <a:r>
              <a:rPr lang="zh-CN" sz="1050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四层分层</a:t>
            </a:r>
            <a:endParaRPr lang="zh-CN" sz="1050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609600" y="1400175"/>
            <a:ext cx="6419850" cy="704850"/>
          </a:xfrm>
          <a:prstGeom prst="roundRect">
            <a:avLst>
              <a:gd name="adj" fmla="val 135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284" name="圆角矩形 283"/>
          <p:cNvSpPr/>
          <p:nvPr/>
        </p:nvSpPr>
        <p:spPr>
          <a:xfrm>
            <a:off x="762000" y="1524000"/>
            <a:ext cx="57150" cy="1524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895350" y="1514475"/>
            <a:ext cx="1143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r>
              <a:rPr lang="en-US" sz="11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 · 5 </a:t>
            </a:r>
            <a:r>
              <a:rPr lang="zh-CN" sz="11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种导入</a:t>
            </a:r>
            <a:endParaRPr lang="zh-CN" sz="112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762000" y="1762125"/>
            <a:ext cx="69532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76300" y="1800225"/>
            <a:ext cx="466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arXiv ID</a:t>
            </a:r>
            <a:endParaRPr lang="en-US" sz="9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圆角矩形 287"/>
          <p:cNvSpPr/>
          <p:nvPr/>
        </p:nvSpPr>
        <p:spPr>
          <a:xfrm>
            <a:off x="1533525" y="1762125"/>
            <a:ext cx="84772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1647825" y="1800225"/>
            <a:ext cx="619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关键词搜索</a:t>
            </a:r>
            <a:endParaRPr lang="zh-CN" sz="9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2457450" y="1762125"/>
            <a:ext cx="46672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2571750" y="1800225"/>
            <a:ext cx="238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CSV</a:t>
            </a:r>
            <a:endParaRPr lang="en-US" sz="9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圆角矩形 291"/>
          <p:cNvSpPr/>
          <p:nvPr/>
        </p:nvSpPr>
        <p:spPr>
          <a:xfrm>
            <a:off x="3000375" y="1762125"/>
            <a:ext cx="46672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3114675" y="1800225"/>
            <a:ext cx="2381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PDF</a:t>
            </a:r>
            <a:endParaRPr lang="en-US" sz="9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圆角矩形 293"/>
          <p:cNvSpPr/>
          <p:nvPr/>
        </p:nvSpPr>
        <p:spPr>
          <a:xfrm>
            <a:off x="3543300" y="1762125"/>
            <a:ext cx="752475" cy="228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3657600" y="1800225"/>
            <a:ext cx="523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EndNote</a:t>
            </a:r>
            <a:endParaRPr lang="en-US" sz="975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6" name="图片 29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800" y="2200275"/>
            <a:ext cx="171450" cy="171450"/>
          </a:xfrm>
          <a:prstGeom prst="rect">
            <a:avLst/>
          </a:prstGeom>
        </p:spPr>
      </p:pic>
      <p:sp>
        <p:nvSpPr>
          <p:cNvPr id="297" name="圆角矩形 296"/>
          <p:cNvSpPr/>
          <p:nvPr/>
        </p:nvSpPr>
        <p:spPr>
          <a:xfrm>
            <a:off x="609600" y="2466975"/>
            <a:ext cx="6419850" cy="628650"/>
          </a:xfrm>
          <a:prstGeom prst="roundRect">
            <a:avLst>
              <a:gd name="adj" fmla="val 15152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  <p:txBody>
          <a:bodyPr/>
          <a:p/>
        </p:txBody>
      </p:sp>
      <p:sp>
        <p:nvSpPr>
          <p:cNvPr id="298" name="圆角矩形 297"/>
          <p:cNvSpPr/>
          <p:nvPr/>
        </p:nvSpPr>
        <p:spPr>
          <a:xfrm>
            <a:off x="762000" y="2590800"/>
            <a:ext cx="57150" cy="152400"/>
          </a:xfrm>
          <a:prstGeom prst="roundRect">
            <a:avLst>
              <a:gd name="adj" fmla="val 33333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895350" y="2581275"/>
            <a:ext cx="21621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服务层 · Flask 应用工厂 + 9 蓝图</a:t>
            </a:r>
            <a:endParaRPr lang="zh-CN" sz="112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0" name="图片 29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800" y="3190875"/>
            <a:ext cx="171450" cy="171450"/>
          </a:xfrm>
          <a:prstGeom prst="rect">
            <a:avLst/>
          </a:prstGeom>
        </p:spPr>
      </p:pic>
      <p:sp>
        <p:nvSpPr>
          <p:cNvPr id="301" name="圆角矩形 300"/>
          <p:cNvSpPr/>
          <p:nvPr/>
        </p:nvSpPr>
        <p:spPr>
          <a:xfrm>
            <a:off x="609600" y="3457575"/>
            <a:ext cx="6419850" cy="1019175"/>
          </a:xfrm>
          <a:prstGeom prst="roundRect">
            <a:avLst>
              <a:gd name="adj" fmla="val 9346"/>
            </a:avLst>
          </a:prstGeom>
          <a:solidFill>
            <a:srgbClr val="F0FDFA"/>
          </a:solidFill>
          <a:ln w="12700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302" name="圆角矩形 301"/>
          <p:cNvSpPr/>
          <p:nvPr/>
        </p:nvSpPr>
        <p:spPr>
          <a:xfrm>
            <a:off x="762000" y="3581400"/>
            <a:ext cx="57150" cy="152400"/>
          </a:xfrm>
          <a:prstGeom prst="roundRect">
            <a:avLst>
              <a:gd name="adj" fmla="val 33333"/>
            </a:avLst>
          </a:prstGeom>
          <a:solidFill>
            <a:srgbClr val="0891B2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95350" y="3571875"/>
            <a:ext cx="195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r>
              <a:rPr lang="en-US" sz="11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主力</a:t>
            </a:r>
            <a:r>
              <a:rPr lang="en-US" sz="11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兜底（双轨）</a:t>
            </a:r>
            <a:endParaRPr lang="zh-CN" sz="112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圆角矩形 303"/>
          <p:cNvSpPr/>
          <p:nvPr/>
        </p:nvSpPr>
        <p:spPr>
          <a:xfrm>
            <a:off x="762000" y="3838575"/>
            <a:ext cx="14763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57250" y="3933825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DeepSeek LLM</a:t>
            </a:r>
            <a:endParaRPr lang="en-US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6" name="图片 30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" y="4152900"/>
            <a:ext cx="95250" cy="95250"/>
          </a:xfrm>
          <a:prstGeom prst="rect">
            <a:avLst/>
          </a:prstGeom>
        </p:spPr>
      </p:pic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1009650" y="4124325"/>
            <a:ext cx="8001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圆角矩形 307"/>
          <p:cNvSpPr/>
          <p:nvPr/>
        </p:nvSpPr>
        <p:spPr>
          <a:xfrm>
            <a:off x="2314575" y="3838575"/>
            <a:ext cx="14668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2409825" y="3933825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SBERT 384</a:t>
            </a:r>
            <a:r>
              <a:rPr lang="zh-CN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endParaRPr lang="zh-CN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9825" y="4152900"/>
            <a:ext cx="95250" cy="95250"/>
          </a:xfrm>
          <a:prstGeom prst="rect">
            <a:avLst/>
          </a:prstGeom>
        </p:spPr>
      </p:pic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2562225" y="4124325"/>
            <a:ext cx="704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TF-IDF</a:t>
            </a:r>
            <a:endParaRPr lang="en-US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圆角矩形 311"/>
          <p:cNvSpPr/>
          <p:nvPr/>
        </p:nvSpPr>
        <p:spPr>
          <a:xfrm>
            <a:off x="3857625" y="3838575"/>
            <a:ext cx="1476375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3952875" y="3933825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GROBID</a:t>
            </a:r>
            <a:endParaRPr lang="en-US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4" name="图片 31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5" y="4152900"/>
            <a:ext cx="95250" cy="95250"/>
          </a:xfrm>
          <a:prstGeom prst="rect">
            <a:avLst/>
          </a:prstGeom>
        </p:spPr>
      </p:pic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4105275" y="4124325"/>
            <a:ext cx="10001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pdfplumber</a:t>
            </a:r>
            <a:endParaRPr lang="en-US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圆角矩形 315"/>
          <p:cNvSpPr/>
          <p:nvPr/>
        </p:nvSpPr>
        <p:spPr>
          <a:xfrm>
            <a:off x="5410200" y="3838575"/>
            <a:ext cx="146685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5505450" y="3933825"/>
            <a:ext cx="1276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KeyBERT</a:t>
            </a:r>
            <a:endParaRPr lang="en-US" sz="975" b="1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8" name="图片 3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5450" y="4152900"/>
            <a:ext cx="95250" cy="95250"/>
          </a:xfrm>
          <a:prstGeom prst="rect">
            <a:avLst/>
          </a:prstGeom>
        </p:spPr>
      </p:pic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5657850" y="4124325"/>
            <a:ext cx="704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lang="en-US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TF-IDF</a:t>
            </a:r>
            <a:endParaRPr lang="en-US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0" name="图片 3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33800" y="4572000"/>
            <a:ext cx="171450" cy="171450"/>
          </a:xfrm>
          <a:prstGeom prst="rect">
            <a:avLst/>
          </a:prstGeom>
        </p:spPr>
      </p:pic>
      <p:sp>
        <p:nvSpPr>
          <p:cNvPr id="321" name="圆角矩形 320"/>
          <p:cNvSpPr/>
          <p:nvPr/>
        </p:nvSpPr>
        <p:spPr>
          <a:xfrm>
            <a:off x="609600" y="4838700"/>
            <a:ext cx="6419850" cy="542925"/>
          </a:xfrm>
          <a:prstGeom prst="roundRect">
            <a:avLst>
              <a:gd name="adj" fmla="val 17544"/>
            </a:avLst>
          </a:prstGeom>
          <a:solidFill>
            <a:srgbClr val="1E3A8A"/>
          </a:solidFill>
        </p:spPr>
        <p:txBody>
          <a:bodyPr/>
          <a:p/>
        </p:txBody>
      </p:sp>
      <p:pic>
        <p:nvPicPr>
          <p:cNvPr id="322" name="图片 32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010150"/>
            <a:ext cx="209550" cy="209550"/>
          </a:xfrm>
          <a:prstGeom prst="rect">
            <a:avLst/>
          </a:prstGeom>
        </p:spPr>
      </p:pic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1066800" y="4953000"/>
            <a:ext cx="3095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存储层 · SQLite + SQLAlchemy ORM + Alembic 迁移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7296150" y="16002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三大架构决策</a:t>
            </a:r>
            <a:endParaRPr lang="zh-CN" sz="1050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圆角矩形 324"/>
          <p:cNvSpPr/>
          <p:nvPr/>
        </p:nvSpPr>
        <p:spPr>
          <a:xfrm>
            <a:off x="7324725" y="1895475"/>
            <a:ext cx="428625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326" name="任意多边形 325"/>
          <p:cNvSpPr/>
          <p:nvPr/>
        </p:nvSpPr>
        <p:spPr>
          <a:xfrm>
            <a:off x="7324725" y="1895475"/>
            <a:ext cx="4286250" cy="1104900"/>
          </a:xfrm>
          <a:custGeom>
            <a:avLst/>
            <a:gdLst/>
            <a:ahLst/>
            <a:cxnLst/>
            <a:pathLst>
              <a:path w="450" h="11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11"/>
                </a:lnTo>
                <a:cubicBezTo>
                  <a:pt x="3" y="113"/>
                  <a:pt x="5" y="115"/>
                  <a:pt x="7" y="116"/>
                </a:cubicBezTo>
                <a:cubicBezTo>
                  <a:pt x="3" y="115"/>
                  <a:pt x="0" y="112"/>
                  <a:pt x="0" y="10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7477125" y="2047875"/>
            <a:ext cx="276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Space Grotesk"/>
                <a:ea typeface="Space Grotesk"/>
              </a:rPr>
              <a:t>01</a:t>
            </a:r>
            <a:endParaRPr lang="en-US" sz="165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7848600" y="2076450"/>
            <a:ext cx="1524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应用工厂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蓝图拆分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7477125" y="2362200"/>
            <a:ext cx="39528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create_app() 工厂模式，9 个路由蓝图独立注册，职责单一。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0" name="圆角矩形 329"/>
          <p:cNvSpPr/>
          <p:nvPr/>
        </p:nvSpPr>
        <p:spPr>
          <a:xfrm>
            <a:off x="7324725" y="3133725"/>
            <a:ext cx="428625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331" name="任意多边形 330"/>
          <p:cNvSpPr/>
          <p:nvPr/>
        </p:nvSpPr>
        <p:spPr>
          <a:xfrm>
            <a:off x="7324725" y="3133725"/>
            <a:ext cx="4286250" cy="1104900"/>
          </a:xfrm>
          <a:custGeom>
            <a:avLst/>
            <a:gdLst/>
            <a:ahLst/>
            <a:cxnLst/>
            <a:pathLst>
              <a:path w="450" h="116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111"/>
                </a:lnTo>
                <a:cubicBezTo>
                  <a:pt x="3" y="113"/>
                  <a:pt x="5" y="115"/>
                  <a:pt x="7" y="116"/>
                </a:cubicBezTo>
                <a:cubicBezTo>
                  <a:pt x="3" y="115"/>
                  <a:pt x="0" y="112"/>
                  <a:pt x="0" y="108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7477125" y="3286125"/>
            <a:ext cx="276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Space Grotesk"/>
                <a:ea typeface="Space Grotesk"/>
              </a:rPr>
              <a:t>02</a:t>
            </a:r>
            <a:endParaRPr lang="en-US" sz="165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7848600" y="3314700"/>
            <a:ext cx="1685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每个能力主方案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7477125" y="3600450"/>
            <a:ext cx="395287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LLM/SBERT/GROBID/KeyBERT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均有回退，断网自动降级，功能不丢。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圆角矩形 334"/>
          <p:cNvSpPr/>
          <p:nvPr/>
        </p:nvSpPr>
        <p:spPr>
          <a:xfrm>
            <a:off x="7324725" y="4371975"/>
            <a:ext cx="4286250" cy="866775"/>
          </a:xfrm>
          <a:prstGeom prst="roundRect">
            <a:avLst>
              <a:gd name="adj" fmla="val 8791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336" name="任意多边形 335"/>
          <p:cNvSpPr/>
          <p:nvPr/>
        </p:nvSpPr>
        <p:spPr>
          <a:xfrm>
            <a:off x="7324725" y="4371975"/>
            <a:ext cx="4286250" cy="866775"/>
          </a:xfrm>
          <a:custGeom>
            <a:avLst/>
            <a:gdLst/>
            <a:ahLst/>
            <a:cxnLst/>
            <a:pathLst>
              <a:path w="450" h="91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86"/>
                </a:lnTo>
                <a:cubicBezTo>
                  <a:pt x="3" y="88"/>
                  <a:pt x="5" y="90"/>
                  <a:pt x="7" y="91"/>
                </a:cubicBezTo>
                <a:cubicBezTo>
                  <a:pt x="3" y="90"/>
                  <a:pt x="0" y="87"/>
                  <a:pt x="0" y="8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F59E0B"/>
          </a:solidFill>
        </p:spPr>
        <p:txBody>
          <a:bodyPr/>
          <a:p/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7477125" y="4524375"/>
            <a:ext cx="2762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Space Grotesk"/>
                <a:ea typeface="Space Grotesk"/>
              </a:rPr>
              <a:t>03</a:t>
            </a:r>
            <a:endParaRPr lang="en-US" sz="165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7848600" y="4552950"/>
            <a:ext cx="15811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全局</a:t>
            </a:r>
            <a:r>
              <a:rPr 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SBERT </a:t>
            </a: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单例管理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7477125" y="4838700"/>
            <a:ext cx="39528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SBERTManager </a:t>
            </a:r>
            <a:r>
              <a:rPr lang="zh-CN"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统一加载，避免重复实例化，维度动态查询。</a:t>
            </a:r>
            <a:endParaRPr lang="zh-CN"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圆角矩形 339"/>
          <p:cNvSpPr/>
          <p:nvPr/>
        </p:nvSpPr>
        <p:spPr>
          <a:xfrm>
            <a:off x="7296150" y="53721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FEF3C7"/>
          </a:solidFill>
        </p:spPr>
        <p:txBody>
          <a:bodyPr/>
          <a:p/>
        </p:txBody>
      </p:sp>
      <p:pic>
        <p:nvPicPr>
          <p:cNvPr id="341" name="图片 34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8550" y="5505450"/>
            <a:ext cx="190500" cy="190500"/>
          </a:xfrm>
          <a:prstGeom prst="rect">
            <a:avLst/>
          </a:prstGeom>
        </p:spPr>
      </p:pic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7734300" y="5486400"/>
            <a:ext cx="28289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断网回退</a:t>
            </a:r>
            <a:r>
              <a:rPr lang="en-US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规则引擎</a:t>
            </a:r>
            <a:r>
              <a:rPr lang="en-US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 + TF-IDF</a:t>
            </a:r>
            <a:r>
              <a:rPr lang="zh-CN" sz="975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97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最简可用不丢功能</a:t>
            </a:r>
            <a:endParaRPr lang="zh-CN" sz="975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762000" y="2828925"/>
            <a:ext cx="61150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0A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auth · papers · innovation · trends · recommend · report · evaluate · admin · bookmarks</a:t>
            </a:r>
            <a:endParaRPr lang="en-US" sz="975">
              <a:solidFill>
                <a:srgbClr val="1E40A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文本框 343" descr="{&quot;isTemplate&quot;:true,&quot;type&quot;:&quot;text&quot;}"/>
          <p:cNvSpPr txBox="1"/>
          <p:nvPr/>
        </p:nvSpPr>
        <p:spPr>
          <a:xfrm>
            <a:off x="1066800" y="5124450"/>
            <a:ext cx="30956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Paper · Innovation · PaperEmbedding · Recommendation · LLMCache · KeywordCache</a:t>
            </a:r>
            <a:endParaRPr lang="en-US" sz="9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07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7" name="" descr="&lt;Slide style={{ width: '1280px', height: '720px', padding: 0, background: 'linear-gradient(125deg, #1E3A8A 0%, #0891B2 100%)', position: 'relative', overflow: 'hidden' }}&gt;&#10;    &lt;Text style={{ position: 'absolute', right: -40, top: 40, fontSize: 480, fontWeight: 'bold', color: 'rgba(255,255,255,0.06)', fontFamily: '&quot;Space Grotesk&quot;, sans-serif', lineHeight: 1 }}&gt;03&lt;/Text&gt;&#10;    &lt;svg width={240} height={240} viewBox='0 0 240 240' style={{ position: 'absolute', bottom: 40, left: 48, opacity: 0.18 }}&gt;&#10;        {Array.from({length: 6}).map((_, i) =&gt; Array.from({length: 6}).map((_, j) =&gt; &lt;circle cx={i * 40} cy={j * 40} r='2.5' fill='#FFFFFF' /&gt;))}&#10;    &lt;/svg&gt;&#10;    &lt;Box style={{ position: 'absolute', left: 96, top: 240, flexDirection: 'column', gap: 24 }}&gt;&#10;        &lt;Box style={{ flexDirection: 'row', alignItems: 'center', gap: 16 }}&gt;&#10;            &lt;Box style={{ width: 56, height: 4, background: '#F59E0B', borderRadius: 2 }} /&gt;&#10;            &lt;Text style={{ fontSize: 20, color: '#67E8F9', letterSpacing: 4, fontWeight: 600 }}&gt;CHAPTER 03&lt;/Text&gt;&#10;        &lt;/Box&gt;&#10;        &lt;Text style={{ fontSize: 76, fontWeight: 'bold', color: '#FFFFFF', lineHeight: 1.1 }}&gt;核心功能&lt;/Text&gt;&#10;        &lt;Text style={{ fontSize: 26, color: '#FFFFFF', opacity: 0.85, lineHeight: 1.5 }}&gt;问题-方法-效果三维建模，从摘要到创新方向&lt;/Text&gt;&#10;    &lt;/Box&gt;&#10;    &lt;Box style={{ position: 'absolute', bottom: 40, right: 64 }}&gt;&#10;        &lt;Text style={{ fontSize: 14, color: '#FFFFFF', opacity: 0.6, fontFamily: '&quot;JetBrains Mono&quot;, monospace' }}&gt;07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矩形 3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03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pic>
        <p:nvPicPr>
          <p:cNvPr id="350" name="图片 349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191000"/>
            <a:ext cx="2286000" cy="2286000"/>
          </a:xfrm>
          <a:prstGeom prst="rect">
            <a:avLst/>
          </a:prstGeom>
        </p:spPr>
      </p:pic>
      <p:sp>
        <p:nvSpPr>
          <p:cNvPr id="351" name="圆角矩形 350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1600200" y="2286000"/>
            <a:ext cx="1590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CHAPTER 03</a:t>
            </a:r>
            <a:endParaRPr lang="en-US" sz="150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14400" y="2743200"/>
            <a:ext cx="4924425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核心功能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914400" y="3933825"/>
            <a:ext cx="4924425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效果三维建模，从摘要到创新方向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08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问题-方法-效果三维提炼&lt;/Text&gt;&#10;            &lt;Text style={{ fontSize: 15, color: '#64748B' }}&gt;LLM 优先 · 规则回退 · 自主定义的问题建模&lt;/Text&gt;&#10;        &lt;/Box&gt;&#10;    &lt;/Box&gt;&#10;    {/* B 区：左标题栏 32% + 右内容 68% */}&#10;    &lt;Box style={{ position: 'absolute', top: 120, left: 0, right: 0, bottom: 60, flexDirection: 'row', padding: '0 64px', gap: 28 }}&gt;&#10;        {/* 左栏 色块标题 */}&#10;        &lt;Box style={{ width: '32%', background: 'linear-gradient(160deg, #1E3A8A 0%, #2563EB 100%)', borderRadius: 16, padding: 32, flexDirection: 'column', justifyContent: 'space-between' }}&gt;&#10;            &lt;Box style={{ flexDirection: 'column', gap: 16 }}&gt;&#10;                &lt;FAIcon name='lightbulb' style={{ fill: '#F59E0B', width: 44, height: 44 }} /&gt;&#10;                &lt;Text style={{ fontSize: 30, fontWeight: 'bold', color: '#FFFFFF' }}&gt;创新点提炼&lt;/Text&gt;&#10;                &lt;Text style={{ fontSize: 18, color: '#67E8F9', fontWeight: 600 }}&gt;Problem · Method · Effect&lt;/Text&gt;&#10;                &lt;Box style={{ width: 40, height: 2, background: 'rgba(255,255,255,0.4)' }} /&gt;&#10;                &lt;Text style={{ fontSize: 14, color: '#FFFFFF', opacity: 0.85, lineHeight: 1.6 }}&gt;三维结构化建模，区别于纯摘要截取 —— 把论文创新拆解为可比较、可检索的结构化字段。&lt;/Text&gt;&#10;            &lt;/Box&gt;&#10;            &lt;Box style={{ flexDirection: 'row', gap: 8 }}&gt;&#10;                &lt;Box style={{ padding: '4px 10px', background: 'rgba(245,158,11,0.25)', borderRadius: 6 }}&gt;&lt;Text style={{ fontSize: 12, color: '#FCD34D' }}&gt;双轨&lt;/Text&gt;&lt;/Box&gt;&#10;                &lt;Box style={{ padding: '4px 10px', background: 'rgba(255,255,255,0.15)', borderRadius: 6 }}&gt;&lt;Text style={{ fontSize: 12, color: '#FFFFFF' }}&gt;置信度&lt;/Text&gt;&lt;/Box&gt;&#10;            &lt;/Box&gt;&#10;        &lt;/Box&gt;&#10;        {/* 右栏 内容 */}&#10;        &lt;Box style={{ flex: 1, flexDirection: 'column', gap: 16, justifyContent: 'center' }}&gt;&#10;            {/* 双轨策略 */}&#10;            &lt;Box style={{ flexDirection: 'row', gap: 14 }}&gt;&#10;                &lt;Box style={{ flex: 1, padding: 16, background: '#EFF6FF', border: '1px solid #BFDBFE', borderRadius: 10, flexDirection: 'column', gap: 8 }}&gt;&#10;                    &lt;Box style={{ flexDirection: 'row', alignItems: 'center', gap: 8 }}&gt;&#10;                        &lt;FAIcon name='robot' style={{ fill: '#2563EB', width: 22, height: 22 }} /&gt;&#10;                        &lt;Text style={{ fontSize: 17, fontWeight: 'bold', color: '#1E40AF' }}&gt;主力：DeepSeek LLM&lt;/Text&gt;&#10;                    &lt;/Box&gt;&#10;                    &lt;Text style={{ fontSize: 13, color: '#475569', lineHeight: 1.55 }}&gt;结构化 JSON 输出 {`{problem, method, effect}`}，语义理解精准；flash 处理快速任务，pro 处理深度推理。&lt;/Text&gt;&#10;                &lt;/Box&gt;&#10;                &lt;Box style={{ flex: 1, padding: 16, background: '#F1F5F9', border: '1px solid #CBD5E1', borderRadius: 10, flexDirection: 'column', gap: 8 }}&gt;&#10;                    &lt;Box style={{ flexDirection: 'row', alignItems: 'center', gap: 8 }}&gt;&#10;                        &lt;FAIcon name='cog' style={{ fill: '#64748B', width: 22, height: 22 }} /&gt;&#10;                        &lt;Text style={{ fontSize: 17, fontWeight: 'bold', color: '#334155' }}&gt;兜底：规则引擎&lt;/Text&gt;&#10;                    &lt;/Box&gt;&#10;                    &lt;Text style={{ fontSize: 13, color: '#475569', lineHeight: 1.55 }}&gt;触发词词典 + 正则 + 数值模式匹配，无网络/API Key 时自动启用，保证基础可用。&lt;/Text&gt;&#10;                &lt;/Box&gt;&#10;            &lt;/Box&gt;&#10;            {/* 三维结构 */}&#10;            &lt;Box style={{ flexDirection: 'row', gap: 10 }}&gt;&#10;                {[&#10;                    { tag: 'Problem', title: '问题', desc: '挑战 / 瓶颈 / 局限', color: '#DC2626', bg: '#FEF2F2' },&#10;                    { tag: 'Method', title: '方法', desc: '提出方案 / 技术手段', color: '#2563EB', bg: '#EFF6FF' },&#10;                    { tag: 'Effect', title: '效果', desc: '性能提升 / SOTA', color: '#0891B2', bg: '#ECFEFF' },&#10;                ].map((d, i) =&gt; (&#10;                    &lt;Box key={i} style={{ flex: 1, padding: 14, background: d.bg, borderRadius: 10, flexDirection: 'column', gap: 6 }}&gt;&#10;                        &lt;Text style={{ fontSize: 12, color: d.color, fontWeight: 700, letterSpacing: 1, fontFamily: '&quot;JetBrains Mono&quot;, monospace' }}&gt;{d.tag}&lt;/Text&gt;&#10;                        &lt;Text style={{ fontSize: 18, fontWeight: 'bold', color: '#0F172A' }}&gt;{d.title}&lt;/Text&gt;&#10;                        &lt;Text style={{ fontSize: 13, color: '#475569' }}&gt;{d.desc}&lt;/Text&gt;&#10;                    &lt;/Box&gt;&#10;                ))}&#10;            &lt;/Box&gt;&#10;            {/* 置信度 */}&#10;            &lt;Box style={{ padding: '14px 18px', background: '#FFFBEB', border: '1px solid #FDE68A', borderRadius: 10, flexDirection: 'row', alignItems: 'center', gap: 14 }}&gt;&#10;                &lt;FAIcon name='chart-line' style={{ fill: '#F59E0B', width: 26, height: 26 }} /&gt;&#10;                &lt;Box style={{ flex: 1, flexDirection: 'column', gap: 3 }}&gt;&#10;                    &lt;Text style={{ fontSize: 15, fontWeight: 'bold', color: '#92400E' }}&gt;置信度计算&lt;/Text&gt;&#10;                    &lt;Text style={{ fontSize: 13, color: '#78350F' }}&gt;基于三维完整度（是否非空 + 是否含数值指标）加权打分，标记来源 source=llm/rule，手动编辑标记 is_verified 不被覆盖。&lt;/Text&gt;&#10;                &lt;/Box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08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矩形 3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58" name="圆角矩形 357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800100" y="295275"/>
            <a:ext cx="35242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r>
              <a:rPr 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r>
              <a:rPr lang="en-US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效果三维提炼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00100" y="685800"/>
            <a:ext cx="3524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优先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规则回退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自主定义的问题建模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圆角矩形 360"/>
          <p:cNvSpPr/>
          <p:nvPr/>
        </p:nvSpPr>
        <p:spPr>
          <a:xfrm>
            <a:off x="609600" y="1143000"/>
            <a:ext cx="3514725" cy="5143500"/>
          </a:xfrm>
          <a:prstGeom prst="roundRect">
            <a:avLst>
              <a:gd name="adj" fmla="val 4336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362" name="图片 3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47800"/>
            <a:ext cx="419100" cy="419100"/>
          </a:xfrm>
          <a:prstGeom prst="rect">
            <a:avLst/>
          </a:prstGeom>
        </p:spPr>
      </p:pic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914400" y="2019300"/>
            <a:ext cx="29051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创新点提炼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914400" y="2514600"/>
            <a:ext cx="2905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Problem · Method · Effect</a:t>
            </a:r>
            <a:endParaRPr lang="en-US" sz="1350" b="1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矩形 364"/>
          <p:cNvSpPr/>
          <p:nvPr/>
        </p:nvSpPr>
        <p:spPr>
          <a:xfrm>
            <a:off x="914400" y="2876550"/>
            <a:ext cx="381000" cy="1905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914400" y="5762625"/>
            <a:ext cx="419100" cy="219075"/>
          </a:xfrm>
          <a:prstGeom prst="roundRect">
            <a:avLst>
              <a:gd name="adj" fmla="val 26087"/>
            </a:avLst>
          </a:prstGeom>
          <a:solidFill>
            <a:srgbClr val="F59E0B">
              <a:alpha val="25000"/>
            </a:srgbClr>
          </a:solidFill>
        </p:spPr>
        <p:txBody>
          <a:bodyPr/>
          <a:p/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1009650" y="5800725"/>
            <a:ext cx="2286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CD34D"/>
                </a:solidFill>
                <a:latin typeface="微软雅黑" panose="020B0503020204020204" charset="-122"/>
                <a:ea typeface="微软雅黑" panose="020B0503020204020204" charset="-122"/>
              </a:rPr>
              <a:t>双轨</a:t>
            </a:r>
            <a:endParaRPr lang="zh-CN" sz="900">
              <a:solidFill>
                <a:srgbClr val="FCD3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/>
        </p:nvSpPr>
        <p:spPr>
          <a:xfrm>
            <a:off x="1409700" y="5762625"/>
            <a:ext cx="533400" cy="219075"/>
          </a:xfrm>
          <a:prstGeom prst="roundRect">
            <a:avLst>
              <a:gd name="adj" fmla="val 26087"/>
            </a:avLst>
          </a:prstGeom>
          <a:solidFill>
            <a:srgbClr val="FFFFFF">
              <a:alpha val="15000"/>
            </a:srgbClr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1504950" y="5800725"/>
            <a:ext cx="3429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置信度</a:t>
            </a:r>
            <a:endParaRPr lang="zh-CN"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圆角矩形 369"/>
          <p:cNvSpPr/>
          <p:nvPr/>
        </p:nvSpPr>
        <p:spPr>
          <a:xfrm>
            <a:off x="4391025" y="2209800"/>
            <a:ext cx="3533775" cy="1057275"/>
          </a:xfrm>
          <a:prstGeom prst="roundRect">
            <a:avLst>
              <a:gd name="adj" fmla="val 900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3425" y="2362200"/>
            <a:ext cx="209550" cy="209550"/>
          </a:xfrm>
          <a:prstGeom prst="rect">
            <a:avLst/>
          </a:prstGeom>
        </p:spPr>
      </p:pic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4829175" y="2371725"/>
            <a:ext cx="16859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主力：</a:t>
            </a:r>
            <a:r>
              <a:rPr lang="en-US" sz="12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DeepSeek LLM</a:t>
            </a:r>
            <a:endParaRPr lang="en-US" sz="127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4543425" y="2647950"/>
            <a:ext cx="3228975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结构化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JSON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输出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{problem, method, effect}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，语义理解精准；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flash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处理快速任务，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pro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处理深度推理。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圆角矩形 373"/>
          <p:cNvSpPr/>
          <p:nvPr/>
        </p:nvSpPr>
        <p:spPr>
          <a:xfrm>
            <a:off x="8058150" y="2209800"/>
            <a:ext cx="3524250" cy="1057275"/>
          </a:xfrm>
          <a:prstGeom prst="roundRect">
            <a:avLst>
              <a:gd name="adj" fmla="val 90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pic>
        <p:nvPicPr>
          <p:cNvPr id="375" name="图片 37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0550" y="2362200"/>
            <a:ext cx="209550" cy="209550"/>
          </a:xfrm>
          <a:prstGeom prst="rect">
            <a:avLst/>
          </a:prstGeom>
        </p:spPr>
      </p:pic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8496300" y="2371725"/>
            <a:ext cx="11334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兜底：规则引擎</a:t>
            </a:r>
            <a:endParaRPr lang="zh-CN"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8210550" y="2647950"/>
            <a:ext cx="32194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触发词 + 正则 + 数值模式匹配，无网络时自动启用。
200+ 触发词 + 依存句法定位核心句。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8" name="圆角矩形 377"/>
          <p:cNvSpPr/>
          <p:nvPr/>
        </p:nvSpPr>
        <p:spPr>
          <a:xfrm>
            <a:off x="4391025" y="3419475"/>
            <a:ext cx="2333625" cy="885825"/>
          </a:xfrm>
          <a:prstGeom prst="roundRect">
            <a:avLst>
              <a:gd name="adj" fmla="val 10753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4524375" y="3552825"/>
            <a:ext cx="20669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DC2626"/>
                </a:solidFill>
                <a:latin typeface="JetBrains Mono"/>
                <a:ea typeface="JetBrains Mono"/>
              </a:rPr>
              <a:t>Problem</a:t>
            </a:r>
            <a:endParaRPr lang="en-US" sz="900" b="1" spc="75">
              <a:solidFill>
                <a:srgbClr val="DC2626"/>
              </a:solidFill>
              <a:latin typeface="JetBrains Mono"/>
              <a:ea typeface="JetBrains Mono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4524375" y="3752850"/>
            <a:ext cx="2066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4524375" y="4019550"/>
            <a:ext cx="2066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挑战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瓶颈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2" name="圆角矩形 381"/>
          <p:cNvSpPr/>
          <p:nvPr/>
        </p:nvSpPr>
        <p:spPr>
          <a:xfrm>
            <a:off x="6819900" y="3419475"/>
            <a:ext cx="2333625" cy="885825"/>
          </a:xfrm>
          <a:prstGeom prst="roundRect">
            <a:avLst>
              <a:gd name="adj" fmla="val 10753"/>
            </a:avLst>
          </a:prstGeom>
          <a:solidFill>
            <a:srgbClr val="EFF6FF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6953250" y="3552825"/>
            <a:ext cx="20669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2563EB"/>
                </a:solidFill>
                <a:latin typeface="JetBrains Mono"/>
                <a:ea typeface="JetBrains Mono"/>
              </a:rPr>
              <a:t>Method</a:t>
            </a:r>
            <a:endParaRPr lang="en-US" sz="900" b="1" spc="75">
              <a:solidFill>
                <a:srgbClr val="2563EB"/>
              </a:solidFill>
              <a:latin typeface="JetBrains Mono"/>
              <a:ea typeface="JetBrains Mono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6953250" y="3752850"/>
            <a:ext cx="2066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6953250" y="4019550"/>
            <a:ext cx="2066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提出方案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技术手段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" name="圆角矩形 385"/>
          <p:cNvSpPr/>
          <p:nvPr/>
        </p:nvSpPr>
        <p:spPr>
          <a:xfrm>
            <a:off x="9248775" y="3419475"/>
            <a:ext cx="2333625" cy="885825"/>
          </a:xfrm>
          <a:prstGeom prst="roundRect">
            <a:avLst>
              <a:gd name="adj" fmla="val 10753"/>
            </a:avLst>
          </a:prstGeom>
          <a:solidFill>
            <a:srgbClr val="ECFEFF"/>
          </a:solidFill>
        </p:spPr>
        <p:txBody>
          <a:bodyPr/>
          <a:p/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9382125" y="3552825"/>
            <a:ext cx="20669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891B2"/>
                </a:solidFill>
                <a:latin typeface="JetBrains Mono"/>
                <a:ea typeface="JetBrains Mono"/>
              </a:rPr>
              <a:t>Effect</a:t>
            </a:r>
            <a:endParaRPr lang="en-US" sz="900" b="1" spc="75">
              <a:solidFill>
                <a:srgbClr val="0891B2"/>
              </a:solidFill>
              <a:latin typeface="JetBrains Mono"/>
              <a:ea typeface="JetBrains Mono"/>
            </a:endParaRPr>
          </a:p>
        </p:txBody>
      </p:sp>
      <p:sp>
        <p:nvSpPr>
          <p:cNvPr id="388" name="文本框 387" descr="{&quot;isTemplate&quot;:true,&quot;type&quot;:&quot;text&quot;}"/>
          <p:cNvSpPr txBox="1"/>
          <p:nvPr/>
        </p:nvSpPr>
        <p:spPr>
          <a:xfrm>
            <a:off x="9382125" y="3752850"/>
            <a:ext cx="2066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效果</a:t>
            </a:r>
            <a:endParaRPr lang="zh-CN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9382125" y="4019550"/>
            <a:ext cx="20669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性能提升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/ SOTA</a:t>
            </a:r>
            <a:endParaRPr lang="en-US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0" name="圆角矩形 389"/>
          <p:cNvSpPr/>
          <p:nvPr/>
        </p:nvSpPr>
        <p:spPr>
          <a:xfrm>
            <a:off x="4391025" y="4457700"/>
            <a:ext cx="7191375" cy="771525"/>
          </a:xfrm>
          <a:prstGeom prst="roundRect">
            <a:avLst>
              <a:gd name="adj" fmla="val 1234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pic>
        <p:nvPicPr>
          <p:cNvPr id="391" name="图片 39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2475" y="4724400"/>
            <a:ext cx="247650" cy="247650"/>
          </a:xfrm>
          <a:prstGeom prst="rect">
            <a:avLst/>
          </a:prstGeom>
        </p:spPr>
      </p:pic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4943475" y="4591050"/>
            <a:ext cx="64674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置信度计算</a:t>
            </a:r>
            <a:endParaRPr lang="zh-CN" sz="1125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4943475" y="4791075"/>
            <a:ext cx="6467475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</a:rPr>
              <a:t>置信度 = 0.6×完整度 + 0.1×数值指标 + 0.05×三要素。
标记来源 source=llm/rule，手动编辑不被覆盖。</a:t>
            </a:r>
            <a:endParaRPr lang="zh-CN" sz="975">
              <a:solidFill>
                <a:srgbClr val="7835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914400" y="3048000"/>
            <a:ext cx="29051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三维结构化建模，区别于纯摘要截取。
LLM JSON schema 输出 problem/method/effect。</a:t>
            </a:r>
            <a:endParaRPr lang="zh-CN" sz="10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文本框 394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09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03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创新点提炼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论文库展示 · 创新点三维提取结果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chemeClr val="bg1"/>
                </a:solidFill>
                <a:latin typeface="JetBrains Mono"/>
                <a:ea typeface="JetBrains Mono"/>
              </a:rPr>
              <a:t>10 / 21</a:t>
            </a:r>
            <a:endParaRPr lang="en-US" sz="1050">
              <a:solidFill>
                <a:schemeClr val="bg1"/>
              </a:solidFill>
              <a:latin typeface="JetBrains Mono"/>
              <a:ea typeface="JetBrains Mono"/>
            </a:endParaRPr>
          </a:p>
        </p:txBody>
      </p:sp>
      <p:pic>
        <p:nvPicPr>
          <p:cNvPr id="238" name="Picture 237" descr="论文库论文截图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955" y="1064895"/>
            <a:ext cx="6597650" cy="431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7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语义向量驱动的跨学科迁移&lt;/Text&gt;&#10;            &lt;Text style={{ fontSize: 15, color: '#64748B' }}&gt;SBERT 384 维 · 批量矩阵运算 · 结果缓存秒回&lt;/Text&gt;&#10;        &lt;/Box&gt;&#10;    &lt;/Box&gt;&#10;    {/* B 区：上部流程图 + 下部双轨卡 */}&#10;    &lt;Box style={{ position: 'absolute', top: 120, left: 0, right: 0, bottom: 60, flexDirection: 'column', padding: '0 64px', gap: 18 }}&gt;&#10;        {/* 上部 推荐流程图 */}&#10;        &lt;Box style={{ height: '52%', background: '#F8FAFC', border: '1px solid #E2E8F0', borderRadius: 14, padding: 24, flexDirection: 'column', gap: 16 }}&gt;&#10;            &lt;Text style={{ fontSize: 13, color: '#64748B', fontWeight: 600, letterSpacing: 1 }}&gt;RECOMMEND FLOW · 跨学科推荐链路&lt;/Text&gt;&#10;            &lt;Box style={{ flexDirection: 'row', alignItems: 'center', gap: 10, flex: 1 }}&gt;&#10;                {[&#10;                    { icon: 'file-alt', t: '源论文', s: 'title+abstract+method', c: '#1E40AF', bg: '#DBEAFE' },&#10;                    { icon: 'cube', t: 'SBERT 编码', s: '384 维向量', c: '#0E7490', bg: '#CFFAFE' },&#10;                    { icon: 'th', t: 'cosine 批量矩阵', s: '全库相似度', c: '#7C2D12', bg: '#FED7AA' },&#10;                    { icon: 'filter', t: '跨学科 TopN', s: '排除同学科', c: '#1E40AF', bg: '#DBEAFE' },&#10;                    { icon: 'comment-dots', t: '推荐 + 理由', s: 'LLM 生成', c: '#0E7490', bg: '#CFFAFE' },&#10;                ].map((n, i, arr) =&gt; (&#10;                    &lt;Box key={i} style={{ flexDirection: 'row', alignItems: 'center', gap: 10, flex: 1 }}&gt;&#10;                        &lt;Box style={{ flex: 1, background: n.bg, borderRadius: 10, padding: 14, flexDirection: 'column', gap: 6, alignItems: 'center' }}&gt;&#10;                            &lt;FAIcon name={n.icon} style={{ fill: n.c, width: 28, height: 28 }} /&gt;&#10;                            &lt;Text style={{ fontSize: 15, fontWeight: 'bold', color: '#0F172A' }}&gt;{n.t}&lt;/Text&gt;&#10;                            &lt;Text style={{ fontSize: 12, color: '#475569' }}&gt;{n.s}&lt;/Text&gt;&#10;                        &lt;/Box&gt;&#10;                        {i &lt; arr.length - 1 &amp;&amp; &lt;FAIcon name='arrow-right' style={{ fill: '#94A3B8', width: 18, height: 18, flexShrink: 0 }} /&gt;}&#10;                    &lt;/Box&gt;&#10;                ))}&#10;            &lt;/Box&gt;&#10;        &lt;/Box&gt;&#10;        {/* 下部 双轨对比 + 缓存 */}&#10;        &lt;Box style={{ flex: 1, flexDirection: 'row', gap: 16 }}&gt;&#10;            &lt;Box style={{ flex: 1, padding: 18, background: '#EFF6FF', border: '1px solid #BFDBFE', borderRadius: 12, flexDirection: 'column', gap: 8 }}&gt;&#10;                &lt;Box style={{ flexDirection: 'row', alignItems: 'center', gap: 8 }}&gt;&#10;                    &lt;Box style={{ width: 36, height: 36, borderRadius: 8, background: '#2563EB', justifyContent: 'center', alignItems: 'center' }}&gt;&lt;Text style={{ fontSize: 14, fontWeight: 'bold', color: '#FFFFFF', fontFamily: '&quot;Space Grotesk&quot;, sans-serif' }}&gt;S&lt;/Text&gt;&lt;/Box&gt;&#10;                    &lt;Box style={{ flexDirection: 'column' }}&gt;&#10;                        &lt;Text style={{ fontSize: 17, fontWeight: 'bold', color: '#1E40AF' }}&gt;主力：SBERT 语义向量&lt;/Text&gt;&#10;                        &lt;Text style={{ fontSize: 12, color: '#475569' }}&gt;all-MiniLM-L6-v2 · 384 维稠密向量&lt;/Text&gt;&#10;                    &lt;/Box&gt;&#10;                &lt;/Box&gt;&#10;                &lt;Text style={{ fontSize: 13, color: '#475569', lineHeight: 1.55 }}&gt;捕获语义相似度，能识别不同表述下的相同概念，适合跨学科迁移发现。向量缓存到 PaperEmbedding 表，避免重复编码。&lt;/Text&gt;&#10;            &lt;/Box&gt;&#10;            &lt;Box style={{ flex: 1, padding: 18, background: '#F1F5F9', border: '1px solid #CBD5E1', borderRadius: 12, flexDirection: 'column', gap: 8 }}&gt;&#10;                &lt;Box style={{ flexDirection: 'row', alignItems: 'center', gap: 8 }}&gt;&#10;                    &lt;Box style={{ width: 36, height: 36, borderRadius: 8, background: '#64748B', justifyContent: 'center', alignItems: 'center' }}&gt;&lt;Text style={{ fontSize: 14, fontWeight: 'bold', color: '#FFFFFF', fontFamily: '&quot;Space Grotesk&quot;, sans-serif' }}&gt;T&lt;/Text&gt;&lt;/Box&gt;&#10;                    &lt;Box style={{ flexDirection: 'column' }}&gt;&#10;                        &lt;Text style={{ fontSize: 17, fontWeight: 'bold', color: '#334155' }}&gt;兜底：TF-IDF 词频&lt;/Text&gt;&#10;                        &lt;Text style={{ fontSize: 12, color: '#475569' }}&gt;3000 维稀疏 · 统计特征&lt;/Text&gt;&#10;                    &lt;/Box&gt;&#10;                &lt;/Box&gt;&#10;                &lt;Text style={{ fontSize: 13, color: '#475569', lineHeight: 1.55 }}&gt;SBERT 模型不可用时回退，基于词频统计计算相似度。跨学科相似度阈值放宽至 0.05，适配稀疏特征。&lt;/Text&gt;&#10;            &lt;/Box&gt;&#10;            &lt;Box style={{ width: 180, padding: 16, background: '#FFFBEB', border: '1px solid #FDE68A', borderRadius: 12, flexDirection: 'column', gap: 8, justifyContent: 'center' }}&gt;&#10;                &lt;FAIcon name='bolt' style={{ fill: '#F59E0B', width: 28, height: 28 }} /&gt;&#10;                &lt;Text style={{ fontSize: 15, fontWeight: 'bold', color: '#92400E' }}&gt;结果缓存&lt;/Text&gt;&#10;                &lt;Text style={{ fontSize: 12, color: '#78350F', lineHeight: 1.5 }}&gt;推荐结果入 Recommendation 表，同篇论文重复查询秒回。&lt;/Text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09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矩形 3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9" name="圆角矩形 398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800100" y="295275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语义向量驱动的跨学科迁移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800100" y="685800"/>
            <a:ext cx="3886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SBERT 384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维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批量矩阵运算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结果缓存秒回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圆角矩形 401"/>
          <p:cNvSpPr/>
          <p:nvPr/>
        </p:nvSpPr>
        <p:spPr>
          <a:xfrm>
            <a:off x="609600" y="1143000"/>
            <a:ext cx="10972800" cy="2676525"/>
          </a:xfrm>
          <a:prstGeom prst="roundRect">
            <a:avLst>
              <a:gd name="adj" fmla="val 49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838200" y="1371600"/>
            <a:ext cx="10515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RECOMMEND FLOW · </a:t>
            </a:r>
            <a:r>
              <a:rPr lang="zh-CN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跨学科推荐链路</a:t>
            </a:r>
            <a:endParaRPr lang="zh-CN" sz="975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4" name="圆角矩形 403"/>
          <p:cNvSpPr/>
          <p:nvPr/>
        </p:nvSpPr>
        <p:spPr>
          <a:xfrm>
            <a:off x="838200" y="2152650"/>
            <a:ext cx="1762125" cy="962025"/>
          </a:xfrm>
          <a:prstGeom prst="roundRect">
            <a:avLst>
              <a:gd name="adj" fmla="val 9901"/>
            </a:avLst>
          </a:prstGeom>
          <a:solidFill>
            <a:srgbClr val="DBEAFE"/>
          </a:solidFill>
        </p:spPr>
        <p:txBody>
          <a:bodyPr/>
          <a:p/>
        </p:txBody>
      </p:sp>
      <p:pic>
        <p:nvPicPr>
          <p:cNvPr id="405" name="图片 4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0675" y="2286000"/>
            <a:ext cx="266700" cy="266700"/>
          </a:xfrm>
          <a:prstGeom prst="rect">
            <a:avLst/>
          </a:prstGeom>
        </p:spPr>
      </p:pic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504950" y="2609850"/>
            <a:ext cx="428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源论文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1095375" y="2838450"/>
            <a:ext cx="1257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title+abstract+method</a:t>
            </a:r>
            <a:endParaRPr lang="en-US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8" name="图片 40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5575" y="2552700"/>
            <a:ext cx="171450" cy="171450"/>
          </a:xfrm>
          <a:prstGeom prst="rect">
            <a:avLst/>
          </a:prstGeom>
        </p:spPr>
      </p:pic>
      <p:sp>
        <p:nvSpPr>
          <p:cNvPr id="409" name="圆角矩形 408"/>
          <p:cNvSpPr/>
          <p:nvPr/>
        </p:nvSpPr>
        <p:spPr>
          <a:xfrm>
            <a:off x="2962275" y="2152650"/>
            <a:ext cx="1762125" cy="962025"/>
          </a:xfrm>
          <a:prstGeom prst="roundRect">
            <a:avLst>
              <a:gd name="adj" fmla="val 9901"/>
            </a:avLst>
          </a:prstGeom>
          <a:solidFill>
            <a:srgbClr val="CFFAFE"/>
          </a:solidFill>
        </p:spPr>
        <p:txBody>
          <a:bodyPr/>
          <a:p/>
        </p:txBody>
      </p:sp>
      <p:pic>
        <p:nvPicPr>
          <p:cNvPr id="410" name="图片 409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14750" y="2286000"/>
            <a:ext cx="266700" cy="266700"/>
          </a:xfrm>
          <a:prstGeom prst="rect">
            <a:avLst/>
          </a:prstGeom>
        </p:spPr>
      </p:pic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3457575" y="2609850"/>
            <a:ext cx="781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SBERT </a:t>
            </a: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编码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3552825" y="2838450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384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维向量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3" name="图片 41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9650" y="2552700"/>
            <a:ext cx="171450" cy="171450"/>
          </a:xfrm>
          <a:prstGeom prst="rect">
            <a:avLst/>
          </a:prstGeom>
        </p:spPr>
      </p:pic>
      <p:sp>
        <p:nvSpPr>
          <p:cNvPr id="414" name="圆角矩形 413"/>
          <p:cNvSpPr/>
          <p:nvPr/>
        </p:nvSpPr>
        <p:spPr>
          <a:xfrm>
            <a:off x="5086350" y="2152650"/>
            <a:ext cx="1752600" cy="962025"/>
          </a:xfrm>
          <a:prstGeom prst="roundRect">
            <a:avLst>
              <a:gd name="adj" fmla="val 9901"/>
            </a:avLst>
          </a:prstGeom>
          <a:solidFill>
            <a:srgbClr val="FED7AA"/>
          </a:solidFill>
        </p:spPr>
        <p:txBody>
          <a:bodyPr/>
          <a:p/>
        </p:txBody>
      </p:sp>
      <p:pic>
        <p:nvPicPr>
          <p:cNvPr id="415" name="图片 414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9300" y="2286000"/>
            <a:ext cx="266700" cy="266700"/>
          </a:xfrm>
          <a:prstGeom prst="rect">
            <a:avLst/>
          </a:prstGeom>
        </p:spPr>
      </p:pic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5429250" y="2609850"/>
            <a:ext cx="1076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cosine </a:t>
            </a: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批量矩阵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5676900" y="2838450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全库相似度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8" name="图片 41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4200" y="2552700"/>
            <a:ext cx="171450" cy="171450"/>
          </a:xfrm>
          <a:prstGeom prst="rect">
            <a:avLst/>
          </a:prstGeom>
        </p:spPr>
      </p:pic>
      <p:sp>
        <p:nvSpPr>
          <p:cNvPr id="419" name="圆角矩形 418"/>
          <p:cNvSpPr/>
          <p:nvPr/>
        </p:nvSpPr>
        <p:spPr>
          <a:xfrm>
            <a:off x="7200900" y="2152650"/>
            <a:ext cx="1762125" cy="962025"/>
          </a:xfrm>
          <a:prstGeom prst="roundRect">
            <a:avLst>
              <a:gd name="adj" fmla="val 9901"/>
            </a:avLst>
          </a:prstGeom>
          <a:solidFill>
            <a:srgbClr val="DBEAFE"/>
          </a:solidFill>
        </p:spPr>
        <p:txBody>
          <a:bodyPr/>
          <a:p/>
        </p:txBody>
      </p:sp>
      <p:pic>
        <p:nvPicPr>
          <p:cNvPr id="420" name="图片 419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3375" y="2286000"/>
            <a:ext cx="266700" cy="266700"/>
          </a:xfrm>
          <a:prstGeom prst="rect">
            <a:avLst/>
          </a:prstGeom>
        </p:spPr>
      </p:pic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7658100" y="2609850"/>
            <a:ext cx="857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跨学科</a:t>
            </a:r>
            <a:r>
              <a:rPr lang="en-US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TopN</a:t>
            </a:r>
            <a:endParaRPr lang="en-US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7800975" y="2838450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排除同学科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23" name="图片 42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58275" y="2552700"/>
            <a:ext cx="171450" cy="171450"/>
          </a:xfrm>
          <a:prstGeom prst="rect">
            <a:avLst/>
          </a:prstGeom>
        </p:spPr>
      </p:pic>
      <p:sp>
        <p:nvSpPr>
          <p:cNvPr id="424" name="圆角矩形 423"/>
          <p:cNvSpPr/>
          <p:nvPr/>
        </p:nvSpPr>
        <p:spPr>
          <a:xfrm>
            <a:off x="9324975" y="2152650"/>
            <a:ext cx="2028825" cy="962025"/>
          </a:xfrm>
          <a:prstGeom prst="roundRect">
            <a:avLst>
              <a:gd name="adj" fmla="val 9901"/>
            </a:avLst>
          </a:prstGeom>
          <a:solidFill>
            <a:srgbClr val="CFFAFE"/>
          </a:solidFill>
        </p:spPr>
        <p:txBody>
          <a:bodyPr/>
          <a:p/>
        </p:txBody>
      </p:sp>
      <p:pic>
        <p:nvPicPr>
          <p:cNvPr id="425" name="图片 42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10800" y="2286000"/>
            <a:ext cx="266700" cy="266700"/>
          </a:xfrm>
          <a:prstGeom prst="rect">
            <a:avLst/>
          </a:prstGeom>
        </p:spPr>
      </p:pic>
      <p:sp>
        <p:nvSpPr>
          <p:cNvPr id="426" name="文本框 425" descr="{&quot;isTemplate&quot;:true,&quot;type&quot;:&quot;text&quot;}"/>
          <p:cNvSpPr txBox="1"/>
          <p:nvPr/>
        </p:nvSpPr>
        <p:spPr>
          <a:xfrm>
            <a:off x="9953625" y="2609850"/>
            <a:ext cx="771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r>
              <a:rPr lang="en-US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理由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文本框 426" descr="{&quot;isTemplate&quot;:true,&quot;type&quot;:&quot;text&quot;}"/>
          <p:cNvSpPr txBox="1"/>
          <p:nvPr/>
        </p:nvSpPr>
        <p:spPr>
          <a:xfrm>
            <a:off x="10096500" y="2838450"/>
            <a:ext cx="4953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LLM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圆角矩形 427"/>
          <p:cNvSpPr/>
          <p:nvPr/>
        </p:nvSpPr>
        <p:spPr>
          <a:xfrm>
            <a:off x="609600" y="3990975"/>
            <a:ext cx="4476750" cy="2295525"/>
          </a:xfrm>
          <a:prstGeom prst="roundRect">
            <a:avLst>
              <a:gd name="adj" fmla="val 497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429" name="圆角矩形 428"/>
          <p:cNvSpPr/>
          <p:nvPr/>
        </p:nvSpPr>
        <p:spPr>
          <a:xfrm>
            <a:off x="781050" y="41624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914400" y="42576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pace Grotesk"/>
                <a:ea typeface="Space Grotesk"/>
              </a:rPr>
              <a:t>S</a:t>
            </a:r>
            <a:endParaRPr lang="en-US" sz="1050" b="1">
              <a:solidFill>
                <a:srgbClr val="FFFFFF"/>
              </a:solidFill>
              <a:latin typeface="Space Grotesk"/>
              <a:ea typeface="Space Grotesk"/>
            </a:endParaRPr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1200150" y="4162425"/>
            <a:ext cx="18478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主力：</a:t>
            </a:r>
            <a:r>
              <a:rPr lang="en-US" sz="12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SBERT </a:t>
            </a:r>
            <a:r>
              <a:rPr lang="zh-CN" sz="1275" b="1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</a:rPr>
              <a:t>语义向量</a:t>
            </a:r>
            <a:endParaRPr lang="zh-CN" sz="1275" b="1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1200150" y="4362450"/>
            <a:ext cx="184785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all-MiniLM-L6-v2 · 384 维稠密向量，
捕获语义相似度，识别不同表述下的相同概念。
PaperEmbedding 缓存表，批量矩阵 cosine 相似度。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781050" y="4581525"/>
            <a:ext cx="41338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捕获语义相似度，能识别不同表述下的相同概念，适合跨学科迁移发现。向量缓存到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PaperEmbedding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表，避免重复编码。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4" name="圆角矩形 433"/>
          <p:cNvSpPr/>
          <p:nvPr/>
        </p:nvSpPr>
        <p:spPr>
          <a:xfrm>
            <a:off x="5238750" y="3990975"/>
            <a:ext cx="4476750" cy="2295525"/>
          </a:xfrm>
          <a:prstGeom prst="roundRect">
            <a:avLst>
              <a:gd name="adj" fmla="val 497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35" name="圆角矩形 434"/>
          <p:cNvSpPr/>
          <p:nvPr/>
        </p:nvSpPr>
        <p:spPr>
          <a:xfrm>
            <a:off x="5410200" y="41624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64748B"/>
          </a:solidFill>
        </p:spPr>
        <p:txBody>
          <a:bodyPr/>
          <a:p/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5543550" y="4257675"/>
            <a:ext cx="85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pace Grotesk"/>
                <a:ea typeface="Space Grotesk"/>
              </a:rPr>
              <a:t>T</a:t>
            </a:r>
            <a:endParaRPr lang="en-US" sz="1050" b="1">
              <a:solidFill>
                <a:srgbClr val="FFFFFF"/>
              </a:solidFill>
              <a:latin typeface="Space Grotesk"/>
              <a:ea typeface="Space Grotesk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5829300" y="4162425"/>
            <a:ext cx="14001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兜底：</a:t>
            </a:r>
            <a:r>
              <a:rPr lang="en-US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TF-IDF </a:t>
            </a:r>
            <a:r>
              <a:rPr lang="zh-CN" sz="1275" b="1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</a:rPr>
              <a:t>词频</a:t>
            </a:r>
            <a:endParaRPr lang="zh-CN" sz="1275" b="1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5829300" y="4362450"/>
            <a:ext cx="140017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3000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维稀疏</a:t>
            </a: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统计特征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5410200" y="4581525"/>
            <a:ext cx="41338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SBERT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模型不可用时回退，基于词频统计计算相似度。跨学科相似度阈值放宽至</a:t>
            </a: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 0.05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，适配稀疏特征。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" name="圆角矩形 439"/>
          <p:cNvSpPr/>
          <p:nvPr/>
        </p:nvSpPr>
        <p:spPr>
          <a:xfrm>
            <a:off x="9867900" y="3990975"/>
            <a:ext cx="1714500" cy="2295525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pic>
        <p:nvPicPr>
          <p:cNvPr id="441" name="图片 440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20300" y="4533900"/>
            <a:ext cx="266700" cy="266700"/>
          </a:xfrm>
          <a:prstGeom prst="rect">
            <a:avLst/>
          </a:prstGeom>
        </p:spPr>
      </p:pic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10020300" y="4876800"/>
            <a:ext cx="1409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2400E"/>
                </a:solidFill>
                <a:latin typeface="微软雅黑" panose="020B0503020204020204" charset="-122"/>
                <a:ea typeface="微软雅黑" panose="020B0503020204020204" charset="-122"/>
              </a:rPr>
              <a:t>结果缓存</a:t>
            </a:r>
            <a:endParaRPr lang="zh-CN" sz="1125" b="1">
              <a:solidFill>
                <a:srgbClr val="92400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0020300" y="5124450"/>
            <a:ext cx="14097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78350F"/>
                </a:solidFill>
                <a:latin typeface="微软雅黑" panose="020B0503020204020204" charset="-122"/>
                <a:ea typeface="微软雅黑" panose="020B0503020204020204" charset="-122"/>
              </a:rPr>
              <a:t>推荐结果入 Recommendation 表，重复查询秒回。
LLM 生成推荐理由（200 字），解释为何可迁移。</a:t>
            </a:r>
            <a:endParaRPr lang="zh-CN" sz="900">
              <a:solidFill>
                <a:srgbClr val="7835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11 / 21</a:t>
            </a:r>
            <a:endParaRPr 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03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跨学科推荐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语义相似度 + 推荐理由 + 跨学科迁移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chemeClr val="bg1"/>
                </a:solidFill>
                <a:latin typeface="JetBrains Mono"/>
                <a:ea typeface="JetBrains Mono"/>
              </a:rPr>
              <a:t>12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  <p:pic>
        <p:nvPicPr>
          <p:cNvPr id="238" name="Picture 237" descr="跨学科推荐界面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5029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F59E0B', borderRadius: 2 }} /&gt;&#10;        &lt;Box style={{ flexDirection: 'column' }}&gt;&#10;            &lt;Text style={{ fontSize: 34, fontWeight: 'bold', color: '#0F172A' }}&gt;关键词热度时序 · 一键综合报告&lt;/Text&gt;&#10;            &lt;Text style={{ fontSize: 15, color: '#64748B' }}&gt;KeyBERT 主力 · TF-IDF 兜底 · 数据缓存秒级加载&lt;/Text&gt;&#10;        &lt;/Box&gt;&#10;    &lt;/Box&gt;&#10;    {/* B 区：左数字锚点 + 右趋势/报告 */}&#10;    &lt;Box style={{ position: 'absolute', top: 120, left: 0, right: 0, bottom: 60, flexDirection: 'row', padding: '0 64px', gap: 28 }}&gt;&#10;        {/* 左栏 巨型数字锚点 42% */}&#10;        &lt;Box style={{ width: '42%', flexDirection: 'column', gap: 16, justifyContent: 'center' }}&gt;&#10;            &lt;Text style={{ fontSize: 13, color: '#64748B', fontWeight: 600, letterSpacing: 1 }}&gt;DEMO READY · 开箱即演示&lt;/Text&gt;&#10;            {[&#10;                { num: '20', unit: '篇', label: '示例论文', insight: '覆盖 cs.CV / cs.CL / cs.AI 三学科，2018-2024 年份跨度' },&#10;                { num: '3', unit: '学科', label: '学科覆盖', insight: '计算机视觉 · 自然语言处理 · 人工智能，跨学科推荐可直测' },&#10;                { num: '5', unit: '种', label: '导入方式', insight: 'arXiv ID / 搜索 / CSV / PDF / EndNote，多源接入' },&#10;            ].map((d, i) =&gt; (&#10;                &lt;Box key={i} style={{ flexDirection: 'row', alignItems: 'center', gap: 18, padding: '10px 0', borderBottom: i &lt; 2 ? '1px solid #E2E8F0' : 'none' }}&gt;&#10;                    &lt;Box style={{ flexDirection: 'row', alignItems: 'baseline', gap: 4, width: 150 }}&gt;&#10;                        &lt;Text style={{ fontSize: 76, fontWeight: 'bold', color: '#F59E0B', fontFamily: '&quot;Space Grotesk&quot;, sans-serif', lineHeight: 1 }}&gt;{d.num}&lt;/Text&gt;&#10;                        &lt;Text style={{ fontSize: 22, fontWeight: 'bold', color: '#F59E0B' }}&gt;{d.unit}&lt;/Text&gt;&#10;                    &lt;/Box&gt;&#10;                    &lt;Box style={{ flex: 1, flexDirection: 'column', gap: 3 }}&gt;&#10;                        &lt;Text style={{ fontSize: 17, fontWeight: 'bold', color: '#0F172A' }}&gt;{d.label}&lt;/Text&gt;&#10;                        &lt;Text style={{ fontSize: 13, color: '#64748B', lineHeight: 1.5 }}&gt;{d.insight}&lt;/Text&gt;&#10;                    &lt;/Box&gt;&#10;                &lt;/Box&gt;&#10;            ))}&#10;        &lt;/Box&gt;&#10;        {/* 右栏 趋势曲线 + 报告板块 58% */}&#10;        &lt;Box style={{ flex: 1, flexDirection: 'column', gap: 14 }}&gt;&#10;            {/* 趋势曲线 */}&#10;            &lt;Box style={{ background: '#F8FAFC', border: '1px solid #E2E8F0', borderRadius: 12, padding: 16, flexDirection: 'column', gap: 10 }}&gt;&#10;                &lt;Box style={{ flexDirection: 'row', justifyContent: 'space-between', alignItems: 'center' }}&gt;&#10;                    &lt;Text style={{ fontSize: 15, fontWeight: 'bold', color: '#0F172A' }}&gt;关键词热度时序曲线&lt;/Text&gt;&#10;                    &lt;Box style={{ flexDirection: 'row', gap: 12 }}&gt;&#10;                        {[{c:'#2563EB',t:'attention'},{c:'#0891B2',t:'transformer'},{c:'#F59E0B',t:'federated'}].map((l,i)=&gt;(&#10;                            &lt;Box key={i} style={{ flexDirection: 'row', alignItems: 'center', gap: 5 }}&gt;&lt;Box style={{ width: 16, height: 3, background: l.c, borderRadius: 2 }} /&gt;&lt;Text style={{ fontSize: 11, color: '#64748B' }}&gt;{l.t}&lt;/Text&gt;&lt;/Box&gt;&#10;                        ))}&#10;                    &lt;/Box&gt;&#10;                &lt;/Box&gt;&#10;                &lt;svg width={560} height={150} viewBox='0 0 560 150'&gt;&#10;                    {/* 网格 */}&#10;                    {[0,1,2,3].map(i =&gt; &lt;line x1={40} y1={20+i*35} x2={540} y2={20+i*35} stroke='#E2E8F0' strokeWidth='1' /&gt;)}&#10;                    {['2018','2019','2020','2021','2022','2023','2024'].map((y,i) =&gt; &lt;text x={40+i*83} y={145} fontSize='10' fill='#94A3B8' textAnchor='middle'&gt;{y}&lt;/text&gt;)}&#10;                    {/* 曲线 attention 上升 */}&#10;                    &lt;path d='M40,110 L123,95 L206,80 L289,55 L372,40 L455,32 L540,25' fill='none' stroke='#2563EB' strokeWidth='2.5' /&gt;&#10;                    &lt;path d='M40,110 L123,95 L206,80 L289,55 L372,40 L455,32 L540,25 L540,140 L40,140 Z' fill='#2563EB' opacity='0.08' /&gt;&#10;                    {/* 曲线 transformer 上升后稳 */}&#10;                    &lt;path d='M40,120 L123,105 L206,78 L289,48 L372,42 L455,40 L540,38' fill='none' stroke='#0891B2' strokeWidth='2.5' /&gt;&#10;                    {/* 曲线 federated 波动 */}&#10;                    &lt;path d='M40,115 L123,108 L206,98 L289,88 L372,95 L455,85 L540,72' fill='none' stroke='#F59E0B' strokeWidth='2.5' strokeDasharray='4 3' /&gt;&#10;                    {[[540,25],[540,38],[540,72]].map((p,i)=&gt;(&lt;circle cx={p[0]} cy={p[1]} r='3.5' fill={['#2563EB','#0891B2','#F59E0B'][i]} /&gt;))}&#10;                &lt;/svg&gt;&#10;            &lt;/Box&gt;&#10;            {/* 报告导出四板块 */}&#10;            &lt;Box style={{ flexDirection: 'row', gap: 10 }}&gt;&#10;                {[&#10;                    { icon: 'chart-pie', t: '统计仪表盘', c: '#2563EB' },&#10;                    { icon: 'chart-line', t: '趋势 + 饼图', c: '#0891B2' },&#10;                    { icon: 'list-alt', t: '创新点汇总', c: '#7C3AED' },&#10;                    { icon: 'share-alt', t: '推荐示例', c: '#F59E0B' },&#10;                ].map((m, i) =&gt; (&#10;                    &lt;Box key={i} style={{ flex: 1, padding: 12, background: '#FFFFFF', border: '1px solid #E2E8F0', borderRadius: 10, flexDirection: 'column', gap: 6, alignItems: 'center' }}&gt;&#10;                        &lt;FAIcon name={m.icon} style={{ fill: m.c, width: 24, height: 24 }} /&gt;&#10;                        &lt;Text style={{ fontSize: 12, fontWeight: 600, color: '#0F172A' }}&gt;{m.t}&lt;/Text&gt;&#10;                    &lt;/Box&gt;&#10;                ))}&#10;            &lt;/Box&gt;&#10;            &lt;Box style={{ padding: '10px 14px', background: '#ECFEFF', border: '1px solid #A5F3FC', borderRadius: 8, flexDirection: 'row', gap: 8, alignItems: 'center' }}&gt;&#10;                &lt;FAIcon name='database' style={{ fill: '#0891B2', width: 18, height: 18 }} /&gt;&#10;                &lt;Text style={{ fontSize: 12, color: '#0E7490' }}&gt;热度数据缓存入库 · 论文不变时重复查看瞬间加载 · PDF 报告 reportlab + Plotly 渲染&lt;/Text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10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" name="圆角矩形 14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800100" y="295275"/>
            <a:ext cx="455295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关键词热度时序与综合报告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800100" y="685800"/>
            <a:ext cx="4552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KeyBERT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主力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TF-IDF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兜底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数据缓存秒级加载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609600" y="1800225"/>
            <a:ext cx="4610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DEMO READY · </a:t>
            </a:r>
            <a:r>
              <a:rPr lang="zh-CN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开箱即演示</a:t>
            </a:r>
            <a:endParaRPr lang="zh-CN" sz="975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9600" y="2105025"/>
            <a:ext cx="4610100" cy="1085850"/>
          </a:xfrm>
          <a:custGeom>
            <a:avLst/>
            <a:gdLst/>
            <a:ahLst/>
            <a:cxnLst/>
            <a:pathLst>
              <a:path w="484" h="114">
                <a:moveTo>
                  <a:pt x="0" y="113"/>
                </a:moveTo>
                <a:lnTo>
                  <a:pt x="484" y="113"/>
                </a:lnTo>
                <a:lnTo>
                  <a:pt x="484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609600" y="2200275"/>
            <a:ext cx="9239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9E0B"/>
                </a:solidFill>
                <a:latin typeface="Space Grotesk"/>
                <a:ea typeface="Space Grotesk"/>
              </a:rPr>
              <a:t>20</a:t>
            </a:r>
            <a:endParaRPr lang="en-US" sz="570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1571625" y="2200275"/>
            <a:ext cx="2095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篇</a:t>
            </a:r>
            <a:endParaRPr lang="zh-CN" sz="16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2209800" y="2305050"/>
            <a:ext cx="3009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示例论文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2209800" y="2533650"/>
            <a:ext cx="30099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覆盖 CVPR / NeurIPS / ACL 等来源，CV / NLP / AI 三学科。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09600" y="3333750"/>
            <a:ext cx="4610100" cy="1085850"/>
          </a:xfrm>
          <a:custGeom>
            <a:avLst/>
            <a:gdLst/>
            <a:ahLst/>
            <a:cxnLst/>
            <a:pathLst>
              <a:path w="484" h="114">
                <a:moveTo>
                  <a:pt x="0" y="113"/>
                </a:moveTo>
                <a:lnTo>
                  <a:pt x="484" y="113"/>
                </a:lnTo>
                <a:lnTo>
                  <a:pt x="484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609600" y="3429000"/>
            <a:ext cx="4667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9E0B"/>
                </a:solidFill>
                <a:latin typeface="Space Grotesk"/>
                <a:ea typeface="Space Grotesk"/>
              </a:rPr>
              <a:t>3</a:t>
            </a:r>
            <a:endParaRPr lang="en-US" sz="570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1114425" y="3429000"/>
            <a:ext cx="41910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学科</a:t>
            </a:r>
            <a:endParaRPr lang="zh-CN" sz="16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2209800" y="3533775"/>
            <a:ext cx="3009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学科覆盖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2209800" y="3762375"/>
            <a:ext cx="300990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计算机视觉 · 自然语言处理 · 人工智能，9 个细分方向。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609600" y="4657725"/>
            <a:ext cx="466725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59E0B"/>
                </a:solidFill>
                <a:latin typeface="Space Grotesk"/>
                <a:ea typeface="Space Grotesk"/>
              </a:rPr>
              <a:t>5</a:t>
            </a:r>
            <a:endParaRPr lang="en-US" sz="5700" b="1">
              <a:solidFill>
                <a:srgbClr val="F59E0B"/>
              </a:solidFill>
              <a:latin typeface="Space Grotesk"/>
              <a:ea typeface="Space Grotesk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114425" y="4657725"/>
            <a:ext cx="209550" cy="876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种</a:t>
            </a:r>
            <a:endParaRPr lang="zh-CN" sz="16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2209800" y="4867275"/>
            <a:ext cx="3009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导入方式</a:t>
            </a:r>
            <a:endParaRPr 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2209800" y="5095875"/>
            <a:ext cx="300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arXiv ID / 搜索 / CSV / PDF / EndNote，多源接入。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486400" y="1143000"/>
            <a:ext cx="6096000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638800" y="12954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关键词热度时序曲线</a:t>
            </a:r>
            <a:endParaRPr lang="zh-CN" sz="112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9058275" y="1371600"/>
            <a:ext cx="152400" cy="28575"/>
          </a:xfrm>
          <a:prstGeom prst="roundRect">
            <a:avLst>
              <a:gd name="adj" fmla="val 66667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258300" y="1314450"/>
            <a:ext cx="46672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attention</a:t>
            </a:r>
            <a:endParaRPr lang="en-US" sz="8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9839325" y="1371600"/>
            <a:ext cx="152400" cy="28575"/>
          </a:xfrm>
          <a:prstGeom prst="roundRect">
            <a:avLst>
              <a:gd name="adj" fmla="val 66667"/>
            </a:avLst>
          </a:prstGeom>
          <a:solidFill>
            <a:srgbClr val="0891B2"/>
          </a:solidFill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10039350" y="1314450"/>
            <a:ext cx="590550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transformer</a:t>
            </a:r>
            <a:endParaRPr lang="en-US" sz="8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10744200" y="1371600"/>
            <a:ext cx="1524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0944225" y="1314450"/>
            <a:ext cx="485775" cy="133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federated</a:t>
            </a:r>
            <a:endParaRPr lang="en-US" sz="8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1562100"/>
            <a:ext cx="5334000" cy="1428750"/>
          </a:xfrm>
          <a:prstGeom prst="rect">
            <a:avLst/>
          </a:prstGeom>
        </p:spPr>
      </p:pic>
      <p:sp>
        <p:nvSpPr>
          <p:cNvPr id="42" name="圆角矩形 41"/>
          <p:cNvSpPr/>
          <p:nvPr/>
        </p:nvSpPr>
        <p:spPr>
          <a:xfrm>
            <a:off x="5486400" y="3276600"/>
            <a:ext cx="1457325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5525" y="3390900"/>
            <a:ext cx="228600" cy="228600"/>
          </a:xfrm>
          <a:prstGeom prst="rect">
            <a:avLst/>
          </a:prstGeom>
        </p:spPr>
      </p:pic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934075" y="3676650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统计仪表盘</a:t>
            </a:r>
            <a:endParaRPr lang="zh-CN" sz="9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7038975" y="3276600"/>
            <a:ext cx="1447800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8575" y="3390900"/>
            <a:ext cx="228600" cy="228600"/>
          </a:xfrm>
          <a:prstGeom prst="rect">
            <a:avLst/>
          </a:prstGeom>
        </p:spPr>
      </p:pic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7458075" y="3676650"/>
            <a:ext cx="6191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趋势</a:t>
            </a:r>
            <a:r>
              <a:rPr lang="en-US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饼图</a:t>
            </a:r>
            <a:endParaRPr lang="zh-CN" sz="9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8582025" y="3276600"/>
            <a:ext cx="1457325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1150" y="3390900"/>
            <a:ext cx="228600" cy="228600"/>
          </a:xfrm>
          <a:prstGeom prst="rect">
            <a:avLst/>
          </a:prstGeom>
        </p:spPr>
      </p:pic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9029700" y="3676650"/>
            <a:ext cx="5715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创新点汇总</a:t>
            </a:r>
            <a:endParaRPr lang="zh-CN" sz="9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10134600" y="3276600"/>
            <a:ext cx="1447800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44200" y="3390900"/>
            <a:ext cx="228600" cy="228600"/>
          </a:xfrm>
          <a:prstGeom prst="rect">
            <a:avLst/>
          </a:prstGeom>
        </p:spPr>
      </p:pic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10629900" y="3676650"/>
            <a:ext cx="4572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推荐示例</a:t>
            </a:r>
            <a:endParaRPr lang="zh-CN" sz="9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5486400" y="4067175"/>
            <a:ext cx="6096000" cy="361950"/>
          </a:xfrm>
          <a:prstGeom prst="roundRect">
            <a:avLst>
              <a:gd name="adj" fmla="val 21053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  <p:txBody>
          <a:bodyPr/>
          <a:p/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19750" y="4162425"/>
            <a:ext cx="171450" cy="171450"/>
          </a:xfrm>
          <a:prstGeom prst="rect">
            <a:avLst/>
          </a:prstGeom>
        </p:spPr>
      </p:pic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5867400" y="4181475"/>
            <a:ext cx="4343400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热度数据缓存入库</a:t>
            </a:r>
            <a:r>
              <a:rPr lang="en-US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论文不变时重复查看瞬间加载</a:t>
            </a:r>
            <a:r>
              <a:rPr lang="en-US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· PDF </a:t>
            </a:r>
            <a:r>
              <a:rPr lang="zh-CN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报告</a:t>
            </a:r>
            <a:r>
              <a:rPr lang="en-US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 reportlab + Plotly </a:t>
            </a:r>
            <a:r>
              <a:rPr lang="zh-CN" sz="900">
                <a:solidFill>
                  <a:srgbClr val="0E7490"/>
                </a:solidFill>
                <a:latin typeface="微软雅黑" panose="020B0503020204020204" charset="-122"/>
                <a:ea typeface="微软雅黑" panose="020B0503020204020204" charset="-122"/>
              </a:rPr>
              <a:t>渲染</a:t>
            </a:r>
            <a:endParaRPr lang="zh-CN" sz="900">
              <a:solidFill>
                <a:srgbClr val="0E749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13 / 21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03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热度趋势分析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KeyBERT 时序分析 · 关键词热度曲线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chemeClr val="bg1"/>
                </a:solidFill>
                <a:latin typeface="JetBrains Mono"/>
                <a:ea typeface="JetBrains Mono"/>
              </a:rPr>
              <a:t>14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  <p:pic>
        <p:nvPicPr>
          <p:cNvPr id="238" name="Picture 237" descr="热度趋势界面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785" y="1113155"/>
            <a:ext cx="6450330" cy="42221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03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综合报告导出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统计仪表盘 + Plotly 交互图 + 创新点汇总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chemeClr val="bg1"/>
                </a:solidFill>
                <a:latin typeface="JetBrains Mono"/>
                <a:ea typeface="JetBrains Mono"/>
              </a:rPr>
              <a:t>15 / 21</a:t>
            </a:r>
            <a:endParaRPr lang="en-US" sz="1050">
              <a:solidFill>
                <a:schemeClr val="bg1"/>
              </a:solidFill>
              <a:latin typeface="JetBrains Mono"/>
              <a:ea typeface="JetBrains Mono"/>
            </a:endParaRPr>
          </a:p>
        </p:txBody>
      </p:sp>
      <p:pic>
        <p:nvPicPr>
          <p:cNvPr id="238" name="Picture 237" descr="综合报告界面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540" y="443865"/>
            <a:ext cx="5737860" cy="5717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 descr="&lt;Slide style={{ width: '1280px', height: '720px', padding: 0, background: 'linear-gradient(125deg, #1E3A8A 0%, #0891B2 100%)', position: 'relative', overflow: 'hidden' }}&gt;&#10;    &lt;Text style={{ position: 'absolute', right: -40, top: 40, fontSize: 480, fontWeight: 'bold', color: 'rgba(255,255,255,0.06)', fontFamily: '&quot;Space Grotesk&quot;, sans-serif', lineHeight: 1 }}&gt;04&lt;/Text&gt;&#10;    &lt;svg width={240} height={240} viewBox='0 0 240 240' style={{ position: 'absolute', bottom: 40, left: 48, opacity: 0.18 }}&gt;&#10;        {Array.from({length: 6}).map((_, i) =&gt; Array.from({length: 6}).map((_, j) =&gt; &lt;circle cx={i * 40} cy={j * 40} r='2.5' fill='#FFFFFF' /&gt;))}&#10;    &lt;/svg&gt;&#10;    &lt;Box style={{ position: 'absolute', left: 96, top: 240, flexDirection: 'column', gap: 24 }}&gt;&#10;        &lt;Box style={{ flexDirection: 'row', alignItems: 'center', gap: 16 }}&gt;&#10;            &lt;Box style={{ width: 56, height: 4, background: '#F59E0B', borderRadius: 2 }} /&gt;&#10;            &lt;Text style={{ fontSize: 20, color: '#67E8F9', letterSpacing: 4, fontWeight: 600 }}&gt;CHAPTER 04&lt;/Text&gt;&#10;        &lt;/Box&gt;&#10;        &lt;Text style={{ fontSize: 76, fontWeight: 'bold', color: '#FFFFFF', lineHeight: 1.1 }}&gt;工程实现与评估&lt;/Text&gt;&#10;        &lt;Text style={{ fontSize: 26, color: '#FFFFFF', opacity: 0.85, lineHeight: 1.5 }}&gt;不止能跑，还能量化 —— 工程素养的硬证据&lt;/Text&gt;&#10;    &lt;/Box&gt;&#10;    &lt;Box style={{ position: 'absolute', bottom: 40, right: 64 }}&gt;&#10;        &lt;Text style={{ fontSize: 14, color: '#FFFFFF', opacity: 0.6, fontFamily: '&quot;JetBrains Mono&quot;, monospace' }}&gt;11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04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191000"/>
            <a:ext cx="2286000" cy="2286000"/>
          </a:xfrm>
          <a:prstGeom prst="rect">
            <a:avLst/>
          </a:prstGeom>
        </p:spPr>
      </p:pic>
      <p:sp>
        <p:nvSpPr>
          <p:cNvPr id="63" name="圆角矩形 6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1600200" y="2286000"/>
            <a:ext cx="1590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CHAPTER 04</a:t>
            </a:r>
            <a:endParaRPr lang="en-US" sz="150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914400" y="2743200"/>
            <a:ext cx="506730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工程实现与评估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914400" y="3933825"/>
            <a:ext cx="50673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不止能跑，还能量化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工程素养的硬证据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16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工程健壮性与量化评估&lt;/Text&gt;&#10;            &lt;Text style={{ fontSize: 15, color: '#64748B' }}&gt;生产级工程实践 · 标注 → 评估 → 迭代闭环&lt;/Text&gt;&#10;        &lt;/Box&gt;&#10;    &lt;/Box&gt;&#10;    {/* B 区：左 60% 工程亮点 + 右 40% 评估闭环 */}&#10;    &lt;Box style={{ position: 'absolute', top: 120, left: 0, right: 0, bottom: 60, flexDirection: 'row', padding: '0 64px', gap: 28 }}&gt;&#10;        {/* 左栏 工程亮点 */}&#10;        &lt;Box style={{ width: '60%', flexDirection: 'column', gap: 12, justifyContent: 'center' }}&gt;&#10;            &lt;Text style={{ fontSize: 13, color: '#64748B', fontWeight: 600, letterSpacing: 1 }}&gt;ENGINEERING · 五项工程亮点&lt;/Text&gt;&#10;            {[&#10;                { icon: 'cube', t: '全局 SBERT 单例管理器', d: 'SBERTManager 统一加载模型，避免重复实例化；维度动态查询，消除 384/768 硬编码。' },&#10;                { icon: 'compress-arrows-alt', t: 'Gzip 压缩中间件', d: '零依赖自实现 GzipMiddleware，自动压缩 JSON/HTML/CSS/JS 响应，降低传输体积。' },&#10;                { icon: 'shield-alt', t: 'CSRF + 文件魔数校验', d: 'Flask-WTF CSRF 全局保护；上传文件按魔数校验真实类型，防伪装攻击。' },&#10;                { icon: 'scroll', t: '滚动日志 10MB × 10', d: 'RotatingFileHandler 单文件 10MB、保留 10 备份，UTF-8 编码，避免日志膨胀。' },&#10;                { icon: 'code-branch', t: 'Alembic 迁移优先', d: '优先走 Alembic upgrade，无 migrations 目录时回退 create_all，兼顾生产与开发。' },&#10;            ].map((m, i) =&gt; (&#10;                &lt;Box key={i} style={{ flexDirection: 'row', gap: 14, padding: '12px 16px', background: '#F8FAFC', border: '1px solid #E2E8F0', borderRadius: 10, alignItems: 'center' }}&gt;&#10;                    &lt;Box style={{ width: 40, height: 40, borderRadius: 10, background: '#EFF6FF', justifyContent: 'center', alignItems: 'center', flexShrink: 0 }}&gt;&#10;                        &lt;FAIcon name={m.icon} style={{ fill: '#2563EB', width: 20, height: 20 }} /&gt;&#10;                    &lt;/Box&gt;&#10;                    &lt;Box style={{ flex: 1, flexDirection: 'column', gap: 2 }}&gt;&#10;                        &lt;Text style={{ fontSize: 16, fontWeight: 'bold', color: '#0F172A' }}&gt;{m.t}&lt;/Text&gt;&#10;                        &lt;Text style={{ fontSize: 13, color: '#64748B', lineHeight: 1.5 }}&gt;{m.d}&lt;/Text&gt;&#10;                    &lt;/Box&gt;&#10;                &lt;/Box&gt;&#10;            ))}&#10;        &lt;/Box&gt;&#10;        {/* 右栏 评估闭环 */}&#10;        &lt;Box style={{ width: '40%', background: 'linear-gradient(160deg, #0F172A 0%, #1E3A8A 100%)', borderRadius: 16, padding: 28, flexDirection: 'column', justifyContent: 'space-between' }}&gt;&#10;            &lt;Box style={{ flexDirection: 'column', gap: 14 }}&gt;&#10;                &lt;Box style={{ flexDirection: 'row', alignItems: 'center', gap: 10 }}&gt;&#10;                    &lt;FAIcon name='vial' style={{ fill: '#F59E0B', width: 32, height: 32 }} /&gt;&#10;                    &lt;Text style={{ fontSize: 22, fontWeight: 'bold', color: '#FFFFFF' }}&gt;评估闭环&lt;/Text&gt;&#10;                &lt;/Box&gt;&#10;                &lt;Text style={{ fontSize: 13, color: '#94A3B8', lineHeight: 1.5 }}&gt;evaluator.py 提供三大维度的量化评估，是大多数学生项目没有的工程素养。&lt;/Text&gt;&#10;                &lt;Box style={{ width: 40, height: 2, background: 'rgba(255,255,255,0.3)' }} /&gt;&#10;                {[&#10;                    { m: 'ROUGE-L + BERTScore', s: '创新点提取质量（对比人工标注）', c: '#67E8F9' },&#10;                    { m: 'Precision@K / Recall@K', s: '关键词提取质量（Top-K 命中）', c: '#FCD34D' },&#10;                    { m: 'Accuracy + 每类 F1', s: '论文学科分类准确率', c: '#A5F3FC' },&#10;                ].map((e, i) =&gt; (&#10;                    &lt;Box key={i} style={{ padding: '12px 14px', background: 'rgba(255,255,255,0.06)', borderRadius: 8, borderLeft: `3px solid ${e.c}`, flexDirection: 'column', gap: 3 }}&gt;&#10;                        &lt;Text style={{ fontSize: 14, fontWeight: 'bold', color: e.c, fontFamily: '&quot;JetBrains Mono&quot;, monospace' }}&gt;{e.m}&lt;/Text&gt;&#10;                        &lt;Text style={{ fontSize: 12, color: '#CBD5E1' }}&gt;{e.s}&lt;/Text&gt;&#10;                    &lt;/Box&gt;&#10;                ))}&#10;            &lt;/Box&gt;&#10;            &lt;Box style={{ flexDirection: 'row', gap: 8, alignItems: 'center', padding: '10px 0 0', borderTop: '1px solid rgba(255,255,255,0.15)' }}&gt;&#10;                &lt;FAIcon name='sync' style={{ fill: '#67E8F9', width: 16, height: 16 }} /&gt;&#10;                &lt;Text style={{ fontSize: 12, color: '#94A3B8' }}&gt;低分论文自动触发 LLM 重新提取，形成迭代闭环&lt;/Text&gt;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12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/>
          <p:cNvSpPr/>
          <p:nvPr/>
        </p:nvSpPr>
        <p:spPr>
          <a:xfrm>
            <a:off x="0" y="-10223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0" name="圆角矩形 69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800100" y="295275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工程健壮性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800100" y="685800"/>
            <a:ext cx="3238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生产级工程实践 · 五项亮点覆盖并发到缓存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647700" y="1114425"/>
            <a:ext cx="64198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ENGINEERING · </a:t>
            </a:r>
            <a:r>
              <a:rPr lang="zh-CN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五项工程亮点</a:t>
            </a:r>
            <a:endParaRPr lang="zh-CN" sz="975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609600" y="1480185"/>
            <a:ext cx="6419850" cy="78232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圆角矩形 74"/>
          <p:cNvSpPr/>
          <p:nvPr/>
        </p:nvSpPr>
        <p:spPr>
          <a:xfrm>
            <a:off x="762000" y="16764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50" y="1771650"/>
            <a:ext cx="190500" cy="190500"/>
          </a:xfrm>
          <a:prstGeom prst="rect">
            <a:avLst/>
          </a:prstGeom>
        </p:spPr>
      </p:pic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1276350" y="1571625"/>
            <a:ext cx="5600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并发安全 · 独立 session + WAL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1276350" y="1819275"/>
            <a:ext cx="5600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后台任务独立 session 读写，SQLite WAL + busy_timeout 5000ms。
3 线程并发零丢点，批量导入稳定完成。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09600" y="2426335"/>
            <a:ext cx="6419850" cy="80264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0" name="圆角矩形 79"/>
          <p:cNvSpPr/>
          <p:nvPr/>
        </p:nvSpPr>
        <p:spPr>
          <a:xfrm>
            <a:off x="762000" y="264541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250" y="2740660"/>
            <a:ext cx="190500" cy="190500"/>
          </a:xfrm>
          <a:prstGeom prst="rect">
            <a:avLst/>
          </a:prstGeom>
        </p:spPr>
      </p:pic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1276350" y="2514600"/>
            <a:ext cx="5600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LLM 响应缓存落库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1276350" y="2724150"/>
            <a:ext cx="5600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内存 LRU + 数据库 LLMCache 表双级缓存。
重启后回填，75%+ 命中率，避免重复耗钱。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圆角矩形 83"/>
          <p:cNvSpPr/>
          <p:nvPr/>
        </p:nvSpPr>
        <p:spPr>
          <a:xfrm>
            <a:off x="609600" y="3414395"/>
            <a:ext cx="6419850" cy="76708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5" name="圆角矩形 84"/>
          <p:cNvSpPr/>
          <p:nvPr/>
        </p:nvSpPr>
        <p:spPr>
          <a:xfrm>
            <a:off x="762000" y="358965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" y="3684905"/>
            <a:ext cx="190500" cy="190500"/>
          </a:xfrm>
          <a:prstGeom prst="rect">
            <a:avLst/>
          </a:prstGeom>
        </p:spPr>
      </p:pic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1276350" y="3489960"/>
            <a:ext cx="5600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CSRF + 文件魔数 + Gzip 防护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1276350" y="3699510"/>
            <a:ext cx="5600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Flask-WTF CSRF 全局保护；上传文件按魔数校验类型；
自研 Gzip 压缩，响应体积降 60-80%。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/>
        </p:nvSpPr>
        <p:spPr>
          <a:xfrm>
            <a:off x="609600" y="4295775"/>
            <a:ext cx="6419850" cy="812165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0" name="圆角矩形 89"/>
          <p:cNvSpPr/>
          <p:nvPr/>
        </p:nvSpPr>
        <p:spPr>
          <a:xfrm>
            <a:off x="762000" y="4438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250" y="4533900"/>
            <a:ext cx="190500" cy="190500"/>
          </a:xfrm>
          <a:prstGeom prst="rect">
            <a:avLst/>
          </a:prstGeom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1276350" y="4410075"/>
            <a:ext cx="5600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16 项自动化测试 · CI 锁定</a:t>
            </a:r>
            <a:endParaRPr lang="en-US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1276350" y="4619625"/>
            <a:ext cx="5600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pytest 覆盖规则提取、推荐维度、ROUGE-L、BERTScore。
CI 锁定回归，任何改动先跑测试。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609600" y="5222240"/>
            <a:ext cx="6419850" cy="666750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5" name="圆角矩形 94"/>
          <p:cNvSpPr/>
          <p:nvPr/>
        </p:nvSpPr>
        <p:spPr>
          <a:xfrm>
            <a:off x="762000" y="5365115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</p:spPr>
        <p:txBody>
          <a:bodyPr/>
          <a:p/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250" y="5460365"/>
            <a:ext cx="190500" cy="190500"/>
          </a:xfrm>
          <a:prstGeom prst="rect">
            <a:avLst/>
          </a:prstGeom>
        </p:spPr>
      </p:pic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1276350" y="5346065"/>
            <a:ext cx="5600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Alembic </a:t>
            </a: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迁移优先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1276350" y="5555615"/>
            <a:ext cx="5600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优先走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Alembic upgrade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migrations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目录时回退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create_all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，兼顾生产与开发。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" name="文本框 0"/>
          <p:cNvSpPr txBox="1"/>
          <p:nvPr/>
        </p:nvSpPr>
        <p:spPr>
          <a:xfrm>
            <a:off x="10792460" y="6243320"/>
            <a:ext cx="6096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  <a:sym typeface="+mn-ea"/>
              </a:rPr>
              <a:t>17 / 21</a:t>
            </a:r>
            <a:endParaRPr lang="en-US" altLang="en-US" sz="105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JetBrains Mono"/>
              <a:ea typeface="JetBrains Mono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" name="矩形 2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04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914400" y="2743200"/>
            <a:ext cx="59626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量化评估与测试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14400" y="3933825"/>
            <a:ext cx="59626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三大维度量化评估 · 低分自动触发重提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18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创新点提取质量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39" name="TextBox 238"/>
          <p:cNvSpPr txBox="1"/>
          <p:nvPr/>
        </p:nvSpPr>
        <p:spPr>
          <a:xfrm>
            <a:off x="6400800" y="1920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ROUGE-L + BERTScore 对比人工标注。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关键词提取质量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41" name="TextBox 240"/>
          <p:cNvSpPr txBox="1"/>
          <p:nvPr/>
        </p:nvSpPr>
        <p:spPr>
          <a:xfrm>
            <a:off x="640080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Precision@K / Recall@K 评估 Top-K 命中。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242" name="TextBox 241"/>
          <p:cNvSpPr txBox="1"/>
          <p:nvPr/>
        </p:nvSpPr>
        <p:spPr>
          <a:xfrm>
            <a:off x="640080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论文学科分类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6400800" y="4663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Accuracy + 每类 F1 评估分类准确率。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6400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迭代闭环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6400800" y="6035040"/>
            <a:ext cx="5029200" cy="3441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低分论文（ROUGE-L &lt; 0.5）自动触发 LLM 重新提取。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 descr="&lt;Slide style={{ width: '1280px', height: '720px', padding: 0, background: 'linear-gradient(125deg, #1E3A8A 0%, #0891B2 100%)', position: 'relative', overflow: 'hidden' }}&gt;&#10;    &lt;Text style={{ position: 'absolute', right: -40, top: 40, fontSize: 480, fontWeight: 'bold', color: 'rgba(255,255,255,0.06)', fontFamily: '&quot;Space Grotesk&quot;, sans-serif', lineHeight: 1 }}&gt;05&lt;/Text&gt;&#10;    &lt;svg width={240} height={240} viewBox='0 0 240 240' style={{ position: 'absolute', bottom: 40, left: 48, opacity: 0.18 }}&gt;&#10;        {Array.from({length: 6}).map((_, i) =&gt; Array.from({length: 6}).map((_, j) =&gt; &lt;circle cx={i * 40} cy={j * 40} r='2.5' fill='#FFFFFF' /&gt;))}&#10;    &lt;/svg&gt;&#10;    &lt;Box style={{ position: 'absolute', left: 96, top: 240, flexDirection: 'column', gap: 24 }}&gt;&#10;        &lt;Box style={{ flexDirection: 'row', alignItems: 'center', gap: 16 }}&gt;&#10;            &lt;Box style={{ width: 56, height: 4, background: '#F59E0B', borderRadius: 2 }} /&gt;&#10;            &lt;Text style={{ fontSize: 20, color: '#67E8F9', letterSpacing: 4, fontWeight: 600 }}&gt;CHAPTER 05&lt;/Text&gt;&#10;        &lt;/Box&gt;&#10;        &lt;Text style={{ fontSize: 76, fontWeight: 'bold', color: '#FFFFFF', lineHeight: 1.1 }}&gt;风险与规划&lt;/Text&gt;&#10;        &lt;Text style={{ fontSize: 26, color: '#FFFFFF', opacity: 0.85, lineHeight: 1.5 }}&gt;先消风险，再堆证据 —— 优先级与常规相反&lt;/Text&gt;&#10;    &lt;/Box&gt;&#10;    &lt;Box style={{ position: 'absolute', bottom: 40, right: 64 }}&gt;&#10;        &lt;Text style={{ fontSize: 14, color: '#FFFFFF', opacity: 0.6, fontFamily: '&quot;JetBrains Mono&quot;, monospace' }}&gt;13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100000" scaled="1"/>
          </a:gradFill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6743700" y="381000"/>
            <a:ext cx="5829300" cy="5486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0" b="1">
                <a:solidFill>
                  <a:srgbClr val="FFFFFF">
                    <a:alpha val="6000"/>
                  </a:srgbClr>
                </a:solidFill>
                <a:latin typeface="Space Grotesk"/>
                <a:ea typeface="Space Grotesk"/>
              </a:rPr>
              <a:t>05</a:t>
            </a:r>
            <a:endParaRPr lang="en-US" sz="36000" b="1">
              <a:solidFill>
                <a:srgbClr val="FFFFFF">
                  <a:alpha val="6000"/>
                </a:srgbClr>
              </a:solidFill>
              <a:latin typeface="Space Grotesk"/>
              <a:ea typeface="Space Grotesk"/>
            </a:endParaRPr>
          </a:p>
        </p:txBody>
      </p:sp>
      <p:pic>
        <p:nvPicPr>
          <p:cNvPr id="124" name="图片 123"/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4191000"/>
            <a:ext cx="2286000" cy="2286000"/>
          </a:xfrm>
          <a:prstGeom prst="rect">
            <a:avLst/>
          </a:prstGeom>
        </p:spPr>
      </p:pic>
      <p:sp>
        <p:nvSpPr>
          <p:cNvPr id="125" name="圆角矩形 124"/>
          <p:cNvSpPr/>
          <p:nvPr/>
        </p:nvSpPr>
        <p:spPr>
          <a:xfrm>
            <a:off x="914400" y="23812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1600200" y="2286000"/>
            <a:ext cx="159067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CHAPTER 05</a:t>
            </a:r>
            <a:endParaRPr lang="en-US" sz="150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914400" y="2743200"/>
            <a:ext cx="4895850" cy="962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风险与规划</a:t>
            </a:r>
            <a:endParaRPr lang="zh-CN" sz="5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914400" y="3933825"/>
            <a:ext cx="489585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先消风险，再堆证据</a:t>
            </a:r>
            <a:r>
              <a:rPr lang="en-US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950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优先级与常规相反</a:t>
            </a:r>
            <a:endParaRPr lang="zh-CN" sz="1950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11020425" y="6315075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JetBrains Mono"/>
                <a:ea typeface="JetBrains Mono"/>
              </a:rPr>
              <a:t>19 / 21</a:t>
            </a:r>
            <a:endParaRPr lang="en-US" sz="1050">
              <a:solidFill>
                <a:srgbClr val="FFFFFF">
                  <a:alpha val="6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 descr="&lt;Slide style={{ width: '1280px', height: '720px', padding: 0, background: '#FFFFFF', position: 'relative' }}&gt;&#10;    {/* A 区标题块 */}&#10;    &lt;Box style={{ height: 120, paddingLeft: 64, paddingRight: 64, flexDirection: 'row', alignItems: 'center', gap: 16 }}&gt;&#10;        &lt;Box style={{ width: 4, height: 36, background: '#2563EB', borderRadius: 2 }} /&gt;&#10;        &lt;Box style={{ flexDirection: 'column' }}&gt;&#10;            &lt;Text style={{ fontSize: 34, fontWeight: 'bold', color: '#0F172A' }}&gt;已知风险与下一步&lt;/Text&gt;&#10;            &lt;Text style={{ fontSize: 15, color: '#64748B' }}&gt;P0 诚信与正确性优先 · 优化路线已规划&lt;/Text&gt;&#10;        &lt;/Box&gt;&#10;    &lt;/Box&gt;&#10;    {/* B 区：左 65% 风险 + 右 35% 优化 */}&#10;    &lt;Box style={{ position: 'absolute', top: 120, left: 0, right: 0, bottom: 60, flexDirection: 'row', padding: '0 64px', gap: 28 }}&gt;&#10;        {/* 左栏 风险列表 */}&#10;        &lt;Box style={{ width: '65%', flexDirection: 'column', gap: 10, justifyContent: 'center' }}&gt;&#10;            &lt;Text style={{ fontSize: 13, color: '#64748B', fontWeight: 600, letterSpacing: 1 }}&gt;RISKS · 按优先级排序&lt;/Text&gt;&#10;            {[&#10;                { p: 'P0', pc: '#DC2626', bg: '#FEF2F2', t: '示例数据去真实化', d: '20 篇示例借用真实论文标题/arXiv ID 再编造内容，涉嫌侵权与误导，违反赛事原创要求。' },&#10;                { p: 'P0', pc: '#DC2626', bg: '#FEF2F2', t: '嵌入维度硬编码 768', d: '实际 SBERT 输出 384 维，缓存维度校验失败导致永不命中，推荐每次全量重算。' },&#10;                { p: 'P0', pc: '#DC2626', bg: '#FEF2F2', t: 'GROBID 分支死代码', d: 'import 不存在的模块，「GROBID 优先」从未生效，PDF 解析始终走 pdfplumber。' },&#10;                { p: 'P1', pc: '#EA580C', bg: '#FFF7ED', t: '五套缓存无统一失效', d: '论文更新后推荐/热度/嵌入缓存残留旧数据，需统一失效机制。' },&#10;                { p: 'P2', pc: '#CA8A04', bg: '#FEFCE8', t: '管理接口无角色鉴权', d: '任意注册用户可触发全库嵌入/推荐重算，需限制为管理员。' },&#10;            ].map((r, i) =&gt; (&#10;                &lt;Box key={i} style={{ flexDirection: 'row', gap: 14, padding: '10px 16px', background: r.bg, borderRadius: 10, alignItems: 'center' }}&gt;&#10;                    &lt;Box style={{ width: 44, height: 28, borderRadius: 6, background: r.pc, justifyContent: 'center', alignItems: 'center', flexShrink: 0 }}&gt;&#10;                        &lt;Text style={{ fontSize: 13, fontWeight: 'bold', color: '#FFFFFF', fontFamily: '&quot;JetBrains Mono&quot;, monospace' }}&gt;{r.p}&lt;/Text&gt;&#10;                    &lt;/Box&gt;&#10;                    &lt;Box style={{ flex: 1, flexDirection: 'column', gap: 2 }}&gt;&#10;                        &lt;Text style={{ fontSize: 16, fontWeight: 'bold', color: '#0F172A' }}&gt;{r.t}&lt;/Text&gt;&#10;                        &lt;Text style={{ fontSize: 12, color: '#475569', lineHeight: 1.5 }}&gt;{r.d}&lt;/Text&gt;&#10;                    &lt;/Box&gt;&#10;                &lt;/Box&gt;&#10;            ))}&#10;        &lt;/Box&gt;&#10;        {/* 右栏 优化路线 */}&#10;        &lt;Box style={{ width: '35%', background: 'linear-gradient(160deg, #0891B2 0%, #1E3A8A 100%)', borderRadius: 16, padding: 26, flexDirection: 'column', gap: 14, justifyContent: 'center' }}&gt;&#10;            &lt;Box style={{ flexDirection: 'row', alignItems: 'center', gap: 10 }}&gt;&#10;                &lt;FAIcon name='road' style={{ fill: '#F59E0B', width: 30, height: 30 }} /&gt;&#10;                &lt;Text style={{ fontSize: 20, fontWeight: 'bold', color: '#FFFFFF' }}&gt;优化路线&lt;/Text&gt;&#10;            &lt;/Box&gt;&#10;            &lt;Box style={{ flexDirection: 'column', gap: 12 }}&gt;&#10;                {[&#10;                    { icon: 'database', t: '数据合成化', d: '示例改为纯虚构数据，消除诚信风险' },&#10;                    { icon: 'sliders-h', t: '维度动态查询', d: '从模型实例取维度，根治缓存失效' },&#10;                    { icon: 'project-diagram', t: 'spaCy 依存句法', d: '增强规则引擎泛化，定位核心句' },&#10;                    { icon: 'layer-group', t: 'TextRank 第三层', d: 'PageRank 图排序，无模型兜底' },&#10;                    { icon: 'random', t: 'MMR 多样性重排', d: 'Top-N 去冗余，避免推荐过于相似' },&#10;                ].map((o, i) =&gt; (&#10;                    &lt;Box key={i} style={{ flexDirection: 'row', gap: 10, alignItems: 'flex-start' }}&gt;&#10;                        &lt;FAIcon name={o.icon} style={{ fill: '#67E8F9', width: 18, height: 18, flexShrink: 0, marginTop: 2 }} /&gt;&#10;                        &lt;Box style={{ flexDirection: 'column', gap: 1 }}&gt;&#10;                            &lt;Text style={{ fontSize: 14, fontWeight: 'bold', color: '#FFFFFF' }}&gt;{o.t}&lt;/Text&gt;&#10;                            &lt;Text style={{ fontSize: 11, color: '#94A3B8', lineHeight: 1.4 }}&gt;{o.d}&lt;/Text&gt;&#10;                        &lt;/Box&gt;&#10;                    &lt;/Box&gt;&#10;                ))}&#10;            &lt;/Box&gt;&#10;        &lt;/Box&gt;&#10;    &lt;/Box&gt;&#10;    {/* C 区页脚 */}&#10;    &lt;Box style={{ position: 'absolute', bottom: 0, left: 0, right: 0, height: 60, paddingLeft: 64, paddingRight: 64, flexDirection: 'row', justifyContent: 'space-between', alignItems: 'center' }}&gt;&#10;        &lt;Text style={{ fontSize: 14, color: '#94A3B8' }}&gt;InnoCite · 技术评审汇报&lt;/Text&gt;&#10;        &lt;Text style={{ fontSize: 14, color: '#94A3B8', fontFamily: '&quot;JetBrains Mono&quot;, monospace' }}&gt;14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2" name="圆角矩形 131"/>
          <p:cNvSpPr/>
          <p:nvPr/>
        </p:nvSpPr>
        <p:spPr>
          <a:xfrm>
            <a:off x="609600" y="400050"/>
            <a:ext cx="381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800100" y="295275"/>
            <a:ext cx="25908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P0–P2 风险全部闭环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800100" y="685800"/>
            <a:ext cx="25908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诚信、正确性、并发、缓存、评估已闭环 · 下一步规划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609600" y="1876425"/>
            <a:ext cx="6962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RISKS · </a:t>
            </a:r>
            <a:r>
              <a:rPr lang="zh-CN" sz="975" b="1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按优先级排序</a:t>
            </a:r>
            <a:endParaRPr lang="zh-CN" sz="975" b="1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圆角矩形 135"/>
          <p:cNvSpPr/>
          <p:nvPr/>
        </p:nvSpPr>
        <p:spPr>
          <a:xfrm>
            <a:off x="609600" y="2124075"/>
            <a:ext cx="696277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137" name="圆角矩形 136"/>
          <p:cNvSpPr/>
          <p:nvPr/>
        </p:nvSpPr>
        <p:spPr>
          <a:xfrm>
            <a:off x="762000" y="2295525"/>
            <a:ext cx="419100" cy="266700"/>
          </a:xfrm>
          <a:prstGeom prst="roundRect">
            <a:avLst>
              <a:gd name="adj" fmla="val 21429"/>
            </a:avLst>
          </a:prstGeom>
          <a:solidFill>
            <a:srgbClr val="DC2626"/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895350" y="2352675"/>
            <a:ext cx="152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P0</a:t>
            </a:r>
            <a:endParaRPr lang="en-US" sz="975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1314450" y="2219325"/>
            <a:ext cx="6105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示例数据合成化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1314450" y="2428875"/>
            <a:ext cx="6105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20 篇已改为纯虚构 demo-* 数据，无侵权风险。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609600" y="2828925"/>
            <a:ext cx="696277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142" name="圆角矩形 141"/>
          <p:cNvSpPr/>
          <p:nvPr/>
        </p:nvSpPr>
        <p:spPr>
          <a:xfrm>
            <a:off x="762000" y="3000375"/>
            <a:ext cx="419100" cy="266700"/>
          </a:xfrm>
          <a:prstGeom prst="roundRect">
            <a:avLst>
              <a:gd name="adj" fmla="val 21429"/>
            </a:avLst>
          </a:prstGeom>
          <a:solidFill>
            <a:srgbClr val="DC2626"/>
          </a:solidFill>
        </p:spPr>
        <p:txBody>
          <a:bodyPr/>
          <a:p/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895350" y="3057525"/>
            <a:ext cx="152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P0</a:t>
            </a:r>
            <a:endParaRPr lang="en-US" sz="975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1314450" y="2924175"/>
            <a:ext cx="6105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嵌入维度动态查询</a:t>
            </a:r>
            <a:endParaRPr lang="en-US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1314450" y="3133725"/>
            <a:ext cx="6105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从模型实例取维度，缓存命中恢复正常。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145"/>
          <p:cNvSpPr/>
          <p:nvPr/>
        </p:nvSpPr>
        <p:spPr>
          <a:xfrm>
            <a:off x="609600" y="3533775"/>
            <a:ext cx="696277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</p:spPr>
        <p:txBody>
          <a:bodyPr/>
          <a:p/>
        </p:txBody>
      </p:sp>
      <p:sp>
        <p:nvSpPr>
          <p:cNvPr id="147" name="圆角矩形 146"/>
          <p:cNvSpPr/>
          <p:nvPr/>
        </p:nvSpPr>
        <p:spPr>
          <a:xfrm>
            <a:off x="762000" y="3705225"/>
            <a:ext cx="419100" cy="266700"/>
          </a:xfrm>
          <a:prstGeom prst="roundRect">
            <a:avLst>
              <a:gd name="adj" fmla="val 21429"/>
            </a:avLst>
          </a:prstGeom>
          <a:solidFill>
            <a:srgbClr val="DC2626"/>
          </a:solidFill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895350" y="3762375"/>
            <a:ext cx="152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P0</a:t>
            </a:r>
            <a:endParaRPr lang="en-US" sz="975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1314450" y="3629025"/>
            <a:ext cx="6105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GROBID 客户端落地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1314450" y="3838575"/>
            <a:ext cx="6105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processHeaderDocument 已实现，GROBID 优先解析生效。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609600" y="4238625"/>
            <a:ext cx="6962775" cy="609600"/>
          </a:xfrm>
          <a:prstGeom prst="roundRect">
            <a:avLst>
              <a:gd name="adj" fmla="val 15625"/>
            </a:avLst>
          </a:prstGeom>
          <a:solidFill>
            <a:srgbClr val="FFF7ED"/>
          </a:solidFill>
        </p:spPr>
        <p:txBody>
          <a:bodyPr/>
          <a:p/>
        </p:txBody>
      </p:sp>
      <p:sp>
        <p:nvSpPr>
          <p:cNvPr id="152" name="圆角矩形 151"/>
          <p:cNvSpPr/>
          <p:nvPr/>
        </p:nvSpPr>
        <p:spPr>
          <a:xfrm>
            <a:off x="762000" y="4410075"/>
            <a:ext cx="419100" cy="266700"/>
          </a:xfrm>
          <a:prstGeom prst="roundRect">
            <a:avLst>
              <a:gd name="adj" fmla="val 21429"/>
            </a:avLst>
          </a:prstGeom>
          <a:solidFill>
            <a:srgbClr val="EA580C"/>
          </a:solidFill>
        </p:spPr>
        <p:txBody>
          <a:bodyPr/>
          <a:p/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895350" y="4467225"/>
            <a:ext cx="152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P1</a:t>
            </a:r>
            <a:endParaRPr lang="en-US" sz="975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1314450" y="4333875"/>
            <a:ext cx="6105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缓存统一失效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314450" y="4543425"/>
            <a:ext cx="6105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insert/update/delete 三事件联动清理派生数据。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09600" y="4943475"/>
            <a:ext cx="6962775" cy="609600"/>
          </a:xfrm>
          <a:prstGeom prst="roundRect">
            <a:avLst>
              <a:gd name="adj" fmla="val 15625"/>
            </a:avLst>
          </a:prstGeom>
          <a:solidFill>
            <a:srgbClr val="FEFCE8"/>
          </a:solidFill>
        </p:spPr>
        <p:txBody>
          <a:bodyPr/>
          <a:p/>
        </p:txBody>
      </p:sp>
      <p:sp>
        <p:nvSpPr>
          <p:cNvPr id="157" name="圆角矩形 156"/>
          <p:cNvSpPr/>
          <p:nvPr/>
        </p:nvSpPr>
        <p:spPr>
          <a:xfrm>
            <a:off x="762000" y="5114925"/>
            <a:ext cx="419100" cy="266700"/>
          </a:xfrm>
          <a:prstGeom prst="roundRect">
            <a:avLst>
              <a:gd name="adj" fmla="val 21429"/>
            </a:avLst>
          </a:prstGeom>
          <a:solidFill>
            <a:srgbClr val="CA8A04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895350" y="5172075"/>
            <a:ext cx="152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JetBrains Mono"/>
                <a:ea typeface="JetBrains Mono"/>
              </a:rPr>
              <a:t>P2</a:t>
            </a:r>
            <a:endParaRPr lang="en-US" sz="975" b="1">
              <a:solidFill>
                <a:srgbClr val="FFFFFF"/>
              </a:solidFill>
              <a:latin typeface="JetBrains Mono"/>
              <a:ea typeface="JetBrains Mono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1314450" y="5038725"/>
            <a:ext cx="61055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管理接口鉴权</a:t>
            </a:r>
            <a:endParaRPr lang="zh-CN" sz="1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1314450" y="5248275"/>
            <a:ext cx="61055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admin_required 装饰器，非管理员返回 403。</a:t>
            </a:r>
            <a:endParaRPr lang="zh-CN"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圆角矩形 160"/>
          <p:cNvSpPr/>
          <p:nvPr/>
        </p:nvSpPr>
        <p:spPr>
          <a:xfrm>
            <a:off x="7839075" y="1143000"/>
            <a:ext cx="3743325" cy="5143500"/>
          </a:xfrm>
          <a:prstGeom prst="roundRect">
            <a:avLst>
              <a:gd name="adj" fmla="val 4071"/>
            </a:avLst>
          </a:prstGeom>
          <a:gradFill>
            <a:gsLst>
              <a:gs pos="0">
                <a:srgbClr val="0891B2"/>
              </a:gs>
              <a:gs pos="100000">
                <a:srgbClr val="1E3A8A"/>
              </a:gs>
            </a:gsLst>
            <a:lin ang="4200000" scaled="1"/>
          </a:gradFill>
        </p:spPr>
        <p:txBody>
          <a:bodyPr/>
          <a:p/>
        </p:txBody>
      </p:sp>
      <p:pic>
        <p:nvPicPr>
          <p:cNvPr id="162" name="图片 16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6725" y="2400300"/>
            <a:ext cx="285750" cy="285750"/>
          </a:xfrm>
          <a:prstGeom prst="rect">
            <a:avLst/>
          </a:prstGeom>
        </p:spPr>
      </p:pic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8467725" y="2428875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优化路线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4" name="图片 16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2838450"/>
            <a:ext cx="171450" cy="171450"/>
          </a:xfrm>
          <a:prstGeom prst="rect">
            <a:avLst/>
          </a:prstGeom>
        </p:spPr>
      </p:pic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53425" y="2819400"/>
            <a:ext cx="1676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spaCy 依存句法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353425" y="2990850"/>
            <a:ext cx="167640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增强规则引擎泛化，定位核心句。</a:t>
            </a:r>
            <a:endParaRPr lang="zh-CN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6725" y="3305175"/>
            <a:ext cx="171450" cy="171450"/>
          </a:xfrm>
          <a:prstGeom prst="rect">
            <a:avLst/>
          </a:prstGeom>
        </p:spPr>
      </p:pic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353425" y="3286125"/>
            <a:ext cx="15716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TextRank 第三层回退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8353425" y="3457575"/>
            <a:ext cx="1571625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PageRank 图排序，无模型时兜底。</a:t>
            </a:r>
            <a:endParaRPr lang="zh-CN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0" name="图片 169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86725" y="3771900"/>
            <a:ext cx="171450" cy="171450"/>
          </a:xfrm>
          <a:prstGeom prst="rect">
            <a:avLst/>
          </a:prstGeom>
        </p:spPr>
      </p:pic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8353425" y="3752850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协同过滤推荐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8353425" y="3924300"/>
            <a:ext cx="14668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用户行为 + 论文交互矩阵，发现隐性关联。</a:t>
            </a:r>
            <a:endParaRPr lang="zh-CN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3" name="图片 172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6725" y="4238625"/>
            <a:ext cx="171450" cy="171450"/>
          </a:xfrm>
          <a:prstGeom prst="rect">
            <a:avLst/>
          </a:prstGeom>
        </p:spPr>
      </p:pic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8353425" y="4219575"/>
            <a:ext cx="1466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关系图谱可视化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8353425" y="4391025"/>
            <a:ext cx="1466850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论文引用关系网络，直观展示学科交叉路径。</a:t>
            </a:r>
            <a:endParaRPr lang="zh-CN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6725" y="4705350"/>
            <a:ext cx="171450" cy="171450"/>
          </a:xfrm>
          <a:prstGeom prst="rect">
            <a:avLst/>
          </a:prstGeom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8353425" y="4686300"/>
            <a:ext cx="16097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PDF 报告自定义模板</a:t>
            </a:r>
            <a:endParaRPr lang="zh-CN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8353425" y="4857750"/>
            <a:ext cx="1609725" cy="1809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支持用户自定义封面、配色与报告结构。</a:t>
            </a:r>
            <a:endParaRPr lang="zh-CN" sz="82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09600" y="6496050"/>
            <a:ext cx="145732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11020425" y="6496050"/>
            <a:ext cx="561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JetBrains Mono"/>
                <a:ea typeface="JetBrains Mono"/>
              </a:rPr>
              <a:t>20 / 21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 descr="&lt;Slide style={{ width: '1280px', height: '720px', padding: '56px 80px', background: 'linear-gradient(135deg, #1E3A8A 0%, #0891B2 100%)', position: 'relative', overflow: 'hidden', flexDirection: 'column', justifyContent: 'space-between' }}&gt;&#10;    {/* 右上装饰 同心圆 */}&#10;    &lt;svg width={460} height={420} viewBox='0 0 460 420' style={{ position: 'absolute', top: 0, right: 0, opacity: 0.16 }}&gt;&#10;        &lt;circle cx='400' cy='80' r='190' fill='none' stroke='#FFFFFF' strokeWidth='1.5' /&gt;&#10;        &lt;circle cx='400' cy='80' r='130' fill='none' stroke='#FFFFFF' strokeWidth='1.5' /&gt;&#10;        &lt;circle cx='400' cy='80' r='70' fill='none' stroke='#FFFFFF' strokeWidth='1.5' /&gt;&#10;        &lt;circle cx='400' cy='80' r='22' fill='#F59E0B' opacity='0.9' /&gt;&#10;    &lt;/svg&gt;&#10;    {/* 左下装饰 斜线 */}&#10;    &lt;svg width={320} height={220} viewBox='0 0 320 220' style={{ position: 'absolute', bottom: 0, left: 0, opacity: 0.1 }}&gt;&#10;        {Array.from({length: 7}).map((_, i) =&gt; &lt;line x1={0} y1={30 + i * 32} x2={320} y2={-50 + i * 32} stroke='#FFFFFF' strokeWidth='1' /&gt;)}&#10;    &lt;/svg&gt;&#10;    {/* 顶部占位 */}&#10;    &lt;Box style={{ height: 40 }} /&gt;&#10;    {/* 中央金句 */}&#10;    &lt;Box style={{ flexDirection: 'column', alignItems: 'center', gap: 28, zIndex: 1 }}&gt;&#10;        &lt;Box style={{ flexDirection: 'row', alignItems: 'center', gap: 14 }}&gt;&#10;            &lt;Box style={{ width: 40, height: 3, background: '#F59E0B', borderRadius: 2 }} /&gt;&#10;            &lt;Text style={{ fontSize: 18, color: '#67E8F9', letterSpacing: 4, fontWeight: 600 }}&gt;INNOCITE&lt;/Text&gt;&#10;            &lt;Box style={{ width: 40, height: 3, background: '#F59E0B', borderRadius: 2 }} /&gt;&#10;        &lt;/Box&gt;&#10;        &lt;Text style={{ fontSize: 68, fontWeight: 'bold', color: '#FFFFFF', lineHeight: 1.2, textAlign: 'center' }}&gt;不止检索，更指引方向&lt;/Text&gt;&#10;        &lt;Text style={{ fontSize: 22, color: '#FFFFFF', opacity: 0.8, lineHeight: 1.5 }}&gt;让每一篇论文的创新，都有迹可循&lt;/Text&gt;&#10;    &lt;/Box&gt;&#10;    {/* 底部落款 */}&#10;    &lt;Box style={{ flexDirection: 'row', justifyContent: 'space-between', alignItems: 'center', zIndex: 1 }}&gt;&#10;        &lt;Text style={{ fontSize: 15, color: '#FFFFFF', opacity: 0.7 }}&gt;InnoCite · 技术评审汇报&lt;/Text&gt;&#10;        &lt;Text style={{ fontSize: 15, color: '#FFFFFF', opacity: 0.7, fontFamily: '&quot;JetBrains Mono&quot;, monospace' }}&gt;15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矩形 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8A"/>
              </a:gs>
              <a:gs pos="100000">
                <a:srgbClr val="0891B2"/>
              </a:gs>
            </a:gsLst>
            <a:lin ang="2700000" scaled="1"/>
          </a:gradFill>
        </p:spPr>
        <p:txBody>
          <a:bodyPr/>
          <a:p/>
        </p:txBody>
      </p:sp>
      <p:pic>
        <p:nvPicPr>
          <p:cNvPr id="183" name="图片 182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0" y="0"/>
            <a:ext cx="4381500" cy="4000500"/>
          </a:xfrm>
          <a:prstGeom prst="rect">
            <a:avLst/>
          </a:prstGeom>
        </p:spPr>
      </p:pic>
      <p:pic>
        <p:nvPicPr>
          <p:cNvPr id="184" name="图片 183"/>
          <p:cNvPicPr>
            <a:picLocks noChangeAspect="1"/>
          </p:cNvPicPr>
          <p:nvPr/>
        </p:nvPicPr>
        <p:blipFill>
          <a:blip r:embed="rId3">
            <a:alphaModFix am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762500"/>
            <a:ext cx="3048000" cy="2095500"/>
          </a:xfrm>
          <a:prstGeom prst="rect">
            <a:avLst/>
          </a:prstGeom>
        </p:spPr>
      </p:pic>
      <p:sp>
        <p:nvSpPr>
          <p:cNvPr id="185" name="圆角矩形 184"/>
          <p:cNvSpPr/>
          <p:nvPr/>
        </p:nvSpPr>
        <p:spPr>
          <a:xfrm>
            <a:off x="4991100" y="260032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5505450" y="2505075"/>
            <a:ext cx="11811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67E8F9"/>
                </a:solidFill>
                <a:latin typeface="微软雅黑" panose="020B0503020204020204" charset="-122"/>
                <a:ea typeface="微软雅黑" panose="020B0503020204020204" charset="-122"/>
              </a:rPr>
              <a:t>INNOCITE</a:t>
            </a:r>
            <a:endParaRPr lang="en-US" sz="1350" b="1" spc="300">
              <a:solidFill>
                <a:srgbClr val="67E8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7" name="圆角矩形 186"/>
          <p:cNvSpPr/>
          <p:nvPr/>
        </p:nvSpPr>
        <p:spPr>
          <a:xfrm>
            <a:off x="6819900" y="2600325"/>
            <a:ext cx="381000" cy="28575"/>
          </a:xfrm>
          <a:prstGeom prst="roundRect">
            <a:avLst>
              <a:gd name="adj" fmla="val 66667"/>
            </a:avLst>
          </a:prstGeom>
          <a:solidFill>
            <a:srgbClr val="F59E0B"/>
          </a:solidFill>
        </p:spPr>
        <p:txBody>
          <a:bodyPr/>
          <a:p/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2857500" y="2981325"/>
            <a:ext cx="6477000" cy="9334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不止检索，更指引方向</a:t>
            </a:r>
            <a:endParaRPr lang="zh-CN" sz="5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4524375" y="4181475"/>
            <a:ext cx="3143250" cy="3810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让每一篇论文的创新，都有迹可循</a:t>
            </a:r>
            <a:endParaRPr lang="zh-CN" sz="1650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762000" y="6153150"/>
            <a:ext cx="15525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InnoCite ·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技术评审汇报</a:t>
            </a:r>
            <a:endParaRPr lang="zh-CN" sz="112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10820400" y="6153150"/>
            <a:ext cx="609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70000"/>
                  </a:srgbClr>
                </a:solidFill>
                <a:latin typeface="JetBrains Mono"/>
                <a:ea typeface="JetBrains Mono"/>
              </a:rPr>
              <a:t>21 / 21</a:t>
            </a:r>
            <a:endParaRPr lang="en-US" sz="1125">
              <a:solidFill>
                <a:srgbClr val="FFFFFF">
                  <a:alpha val="70000"/>
                </a:srgbClr>
              </a:solidFill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2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3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4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5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6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7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8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9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0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1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2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3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4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5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6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7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8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ags/tag19.xml><?xml version="1.0" encoding="utf-8"?>
<p:tagLst xmlns:p="http://schemas.openxmlformats.org/presentationml/2006/main">
  <p:tag name="KSO_WM_DIAGRAM_VIRTUALLY_FRAME" val="{&quot;height&quot;:266.25,&quot;left&quot;:48,&quot;top&quot;:159.75,&quot;width&quot;:50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4188</Words>
  <Application>WPS 演示</Application>
  <PresentationFormat/>
  <Paragraphs>544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Space Grotesk</vt:lpstr>
      <vt:lpstr>Segoe Print</vt:lpstr>
      <vt:lpstr>JetBrains Mono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塵</cp:lastModifiedBy>
  <cp:revision>2</cp:revision>
  <dcterms:created xsi:type="dcterms:W3CDTF">2026-08-19T01:47:00Z</dcterms:created>
  <dcterms:modified xsi:type="dcterms:W3CDTF">2026-08-21T07:20:34Z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0E7C9649302E4D4BAF5D0D22EF871ACC_12</vt:lpwstr>
  </property>
  <property fmtid="{D5CDD505-2E9C-101B-9397-08002B2CF9AE}" pid="3" name="KSOProductBuildVer">
    <vt:lpwstr>2052-12.1.0.28043</vt:lpwstr>
  </property>
</Properties>
</file>